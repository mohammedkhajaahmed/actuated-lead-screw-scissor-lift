
<file path=[Content_Types].xml><?xml version="1.0" encoding="utf-8"?>
<Types xmlns="http://schemas.openxmlformats.org/package/2006/content-types">
  <Default Extension="gif" ContentType="image/gif"/>
  <Default Extension="glb" ContentType="model/gltf.binary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58" r:id="rId3"/>
    <p:sldId id="277" r:id="rId4"/>
    <p:sldId id="262" r:id="rId5"/>
    <p:sldId id="263" r:id="rId6"/>
    <p:sldId id="259" r:id="rId7"/>
    <p:sldId id="278" r:id="rId8"/>
    <p:sldId id="279" r:id="rId9"/>
    <p:sldId id="280" r:id="rId10"/>
    <p:sldId id="281" r:id="rId11"/>
    <p:sldId id="282" r:id="rId12"/>
    <p:sldId id="289" r:id="rId13"/>
    <p:sldId id="283" r:id="rId14"/>
    <p:sldId id="284" r:id="rId15"/>
    <p:sldId id="285" r:id="rId16"/>
    <p:sldId id="286" r:id="rId17"/>
    <p:sldId id="287" r:id="rId18"/>
    <p:sldId id="288" r:id="rId19"/>
    <p:sldId id="291" r:id="rId20"/>
    <p:sldId id="292" r:id="rId21"/>
    <p:sldId id="294" r:id="rId22"/>
    <p:sldId id="293" r:id="rId23"/>
    <p:sldId id="297" r:id="rId24"/>
    <p:sldId id="298" r:id="rId25"/>
    <p:sldId id="295" r:id="rId26"/>
    <p:sldId id="29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94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D2510-C945-4566-889D-5DF9B98656AE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D20E8-B6FD-4D9D-B07E-75DFBD29D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433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D20E8-B6FD-4D9D-B07E-75DFBD29DF9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327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BD6C1-4170-3070-2CF9-F2969F45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8665F-4668-707F-6461-07D45A8AF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42796-B82F-7726-157A-1F968C02D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EABB3-528E-9DE0-269B-9C23C7EA8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D20E8-B6FD-4D9D-B07E-75DFBD29DF9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884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C52C0-6952-3898-7E44-6A726FCBE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B0F2E-C932-7AE1-FA1E-C58944BEB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8A7679-D269-370A-7E33-0765DAFB3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4190D-7AA9-078C-E3FD-E6DAD923F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D20E8-B6FD-4D9D-B07E-75DFBD29DF9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205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2815C-B479-B4B0-FACA-6C64AAEA9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4DDBA-A5B6-C751-EBA2-3332F2FD6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1ED9D-E4AB-1F0B-FAFD-99B9619C4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E38EE-C74E-B0EE-4D08-6BAB6F8F0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D20E8-B6FD-4D9D-B07E-75DFBD29DF9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243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C02F4-7A1E-D412-713A-B694366B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F70F8-9B3D-48F4-C2B0-DE40EAF38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E78B9-AD16-4325-CEDF-F7386E1EF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336B3-4BD4-46B9-8866-D9BBD0DA8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D20E8-B6FD-4D9D-B07E-75DFBD29DF9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72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33D6A-6386-9CE2-9C0B-4DC4720AA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418DD-228F-ABFC-0E29-26DD3D83D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A096A-CA4B-C875-8008-F3C0E6F41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4D8F-6B50-D082-5ED8-DA85C48BE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D20E8-B6FD-4D9D-B07E-75DFBD29DF9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670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B681B-47BB-82DD-5070-0847AF799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A801D-8540-47C5-CD78-AD6B4D980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0101E-7B26-E803-8EE1-8297558E3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B4221-EF02-DB39-C9F6-D71493BAE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D20E8-B6FD-4D9D-B07E-75DFBD29DF96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202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74BA5-0C95-070C-9D2B-CC5C2448B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E7A8D-29DF-6188-B060-68B552173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F7B133-8835-E3BC-56A9-DDDFE0E43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B67AC-D109-57DA-36A0-5ED4D1DA2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D20E8-B6FD-4D9D-B07E-75DFBD29DF9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218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26205-65AA-D7B2-E38E-CC4EDA4B5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96914-9856-9F7A-6907-DF8B86AD6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2DA2C-72E6-0333-30E0-BACF9FDBB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E7738-528A-2324-5102-F40912CD4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D20E8-B6FD-4D9D-B07E-75DFBD29DF9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132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71BF1-23C5-8EED-A4FA-A19CCB99F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A4950-7A72-C58F-76C6-469C59FA0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C7862-ABCB-96D1-D111-402C1DBE6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94E95-51ED-3D1E-BED3-0227B642E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07E3D-CE36-44BA-B565-8C4A9DF3904B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893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16260-B745-1503-F1CF-05D25CEF7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B10A3-2CF9-D4CF-F8A4-988F681DAF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082C3-0383-4E8E-E622-3C8B0727C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FBFD6-2882-4487-98C1-BDCB1FF88C4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0214D-E969-7D4D-CDCA-A51EAFC2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1D9A0-AEB6-FA44-1BFE-D109E93CB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986-63AF-4FC2-843F-4A5AFFEE8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585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C0BF7-D123-DF63-BF11-2A4C3C3C7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200DA-6125-F94C-04A9-86D8BFD87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E5027-CF38-E89A-FA94-08241168A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FBFD6-2882-4487-98C1-BDCB1FF88C4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A2BAE-8B1F-4964-04F5-A53A9900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95525-A2E8-DC6F-212F-04174784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986-63AF-4FC2-843F-4A5AFFEE8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84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CB409-AD3C-FC5F-0A60-2B4582A1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69B93-FDDA-A3BA-2D72-BE622898D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82D46-1317-37A9-2127-6FF408DA7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FBFD6-2882-4487-98C1-BDCB1FF88C4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47FAB-1934-2314-3A24-F851CFD8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A27EA-63E6-4FF6-62D4-6301998C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986-63AF-4FC2-843F-4A5AFFEE8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12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01145-B57F-6306-9FC5-ECCBED003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9F79F-620C-8CCF-F0EE-6C82774E6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7BA7A-F05D-028D-5295-FEBCF9AD4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2FE4D-D8AD-50C3-1904-A032972C7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FBFD6-2882-4487-98C1-BDCB1FF88C4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34BD6-B00D-85D7-0051-A6C593C63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C5101-5BEA-7DA3-0ADA-3078EACD0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986-63AF-4FC2-843F-4A5AFFEE8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536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66460-F862-91A6-E4E2-FDF317CB5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EC8E7-4AAF-BB9C-B1FC-BC032FE24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5CB6A-5295-E77B-00CA-33E624FF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E1E123-3DD5-ABE0-F22A-F0F507260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AD70F-39E3-9DCA-2BFF-B2CB42B71D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19B8D-258F-B5AD-5C76-9CA54454E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FBFD6-2882-4487-98C1-BDCB1FF88C4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ACCC93-ACC9-D29E-520F-A77E4B511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381EED-20AA-AACE-8CE9-76EE2FCA5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986-63AF-4FC2-843F-4A5AFFEE8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07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BF25A-7611-15D6-782D-6B131A128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AB515-F237-CC19-2045-3C7F85F6C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FBFD6-2882-4487-98C1-BDCB1FF88C4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40CBC-956B-7CBF-F3FE-1360F46F7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ECD4B-7A89-1408-F662-3DD0CDD6C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986-63AF-4FC2-843F-4A5AFFEE8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75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F0B23E-15E6-9A42-E5AD-380CC24A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FBFD6-2882-4487-98C1-BDCB1FF88C4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3C1E39-E5D9-7D84-B8F0-41B452FF6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7DA7F-A69A-887D-2AAD-502B88DA2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986-63AF-4FC2-843F-4A5AFFEE8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730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0B52-9C37-AEC1-1D38-59E77FA01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192FD-AB98-998A-BB69-E742569DF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69741-388C-F705-67CD-61A56831C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52705-1E4E-85B9-883C-2BAB2173F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FBFD6-2882-4487-98C1-BDCB1FF88C4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6AFB1-1982-2608-624C-A6E99483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30A9D-3135-8F66-C82F-A507A9C47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986-63AF-4FC2-843F-4A5AFFEE8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144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A4DB-49F7-BD52-489F-1CBB67CB2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C3F18-446F-B94E-AE6C-5FEE860671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F0646-8620-4660-F241-F4CA7F312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B40C2-BCA2-01A6-1019-2FEA844F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FBFD6-2882-4487-98C1-BDCB1FF88C4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FC759-3836-A494-DAD6-0B92C61BB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5E632-CCC9-DCE9-67D5-B61260DD1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986-63AF-4FC2-843F-4A5AFFEE8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9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42528-5F83-7664-36AE-D0F5CE1C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8287-7838-1322-8EBC-B71E8B487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0C24D-5040-23EE-A4F2-28B3AA183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FBFD6-2882-4487-98C1-BDCB1FF88C4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078BB-33CA-5545-14E6-8ACC3BC8F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5C705-22E6-4EC2-C443-6D22CCD7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986-63AF-4FC2-843F-4A5AFFEE8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536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E15583-9001-EA5A-5528-CCE5C4B05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B355F-ED6B-E117-D47D-743D1B13F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70FDF-75F2-6CEC-EA29-4EF39C4F4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FBFD6-2882-4487-98C1-BDCB1FF88C4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F6A01-9E7F-D71E-2448-5D38BA6E9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BC10C-0B3F-225F-ED78-40C2F4B8F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6986-63AF-4FC2-843F-4A5AFFEE8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098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A332C-D5DF-815E-1F1E-DBFACCFD1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B7441-9B59-D701-018A-601572E71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9691C-0F58-4FD6-4E9D-DB4E33F04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FBFD6-2882-4487-98C1-BDCB1FF88C4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B99CB-35FB-9AEF-CBE1-74C7B145D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59852-3E7F-44D6-4D8F-3A09B53C6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56986-63AF-4FC2-843F-4A5AFFEE8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5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45043A84-A73C-2989-BF2B-3F2077D1856E}"/>
              </a:ext>
            </a:extLst>
          </p:cNvPr>
          <p:cNvSpPr txBox="1"/>
          <p:nvPr/>
        </p:nvSpPr>
        <p:spPr>
          <a:xfrm>
            <a:off x="2149659" y="853249"/>
            <a:ext cx="79217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2">
                    <a:lumMod val="90000"/>
                  </a:schemeClr>
                </a:solidFill>
                <a:latin typeface="Algerian" panose="04020705040A02060702" pitchFamily="82" charset="0"/>
              </a:rPr>
              <a:t>Engineering Design of a Manually Actuated Lead-Screw Scissor Lift</a:t>
            </a:r>
            <a:endParaRPr lang="en-IN" sz="3200" dirty="0">
              <a:solidFill>
                <a:schemeClr val="bg2">
                  <a:lumMod val="9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44" name="Hexagon 43">
            <a:extLst>
              <a:ext uri="{FF2B5EF4-FFF2-40B4-BE49-F238E27FC236}">
                <a16:creationId xmlns:a16="http://schemas.microsoft.com/office/drawing/2014/main" id="{8E4D95B7-397B-521E-C480-F991F28B9411}"/>
              </a:ext>
            </a:extLst>
          </p:cNvPr>
          <p:cNvSpPr/>
          <p:nvPr/>
        </p:nvSpPr>
        <p:spPr>
          <a:xfrm rot="10800000">
            <a:off x="295587" y="455691"/>
            <a:ext cx="1021388" cy="757771"/>
          </a:xfrm>
          <a:prstGeom prst="hexagon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Hexagon 44">
            <a:extLst>
              <a:ext uri="{FF2B5EF4-FFF2-40B4-BE49-F238E27FC236}">
                <a16:creationId xmlns:a16="http://schemas.microsoft.com/office/drawing/2014/main" id="{762C80D6-7C16-46D8-6AB1-4A9676D13461}"/>
              </a:ext>
            </a:extLst>
          </p:cNvPr>
          <p:cNvSpPr/>
          <p:nvPr/>
        </p:nvSpPr>
        <p:spPr>
          <a:xfrm rot="10800000">
            <a:off x="3636337" y="4822163"/>
            <a:ext cx="1421437" cy="1288717"/>
          </a:xfrm>
          <a:prstGeom prst="hexagon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015CF2-7A98-0138-36F4-CB7D7B7302AF}"/>
              </a:ext>
            </a:extLst>
          </p:cNvPr>
          <p:cNvGrpSpPr/>
          <p:nvPr/>
        </p:nvGrpSpPr>
        <p:grpSpPr>
          <a:xfrm>
            <a:off x="-5400597" y="-321566"/>
            <a:ext cx="4972050" cy="8229600"/>
            <a:chOff x="-2352597" y="-321566"/>
            <a:chExt cx="4972050" cy="8229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65FBE98-E646-040A-4E66-9C101CD33760}"/>
                </a:ext>
              </a:extLst>
            </p:cNvPr>
            <p:cNvSpPr/>
            <p:nvPr/>
          </p:nvSpPr>
          <p:spPr>
            <a:xfrm>
              <a:off x="-2352597" y="-321566"/>
              <a:ext cx="4972050" cy="8229600"/>
            </a:xfrm>
            <a:prstGeom prst="rect">
              <a:avLst/>
            </a:prstGeom>
            <a:solidFill>
              <a:srgbClr val="EEB5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43013C8-B191-E78D-9808-CECB4E7158CA}"/>
                </a:ext>
              </a:extLst>
            </p:cNvPr>
            <p:cNvSpPr txBox="1"/>
            <p:nvPr/>
          </p:nvSpPr>
          <p:spPr>
            <a:xfrm>
              <a:off x="333458" y="745527"/>
              <a:ext cx="21781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600" dirty="0">
                  <a:solidFill>
                    <a:schemeClr val="bg1"/>
                  </a:solidFill>
                  <a:latin typeface="Cooper Black" panose="0208090404030B020404" pitchFamily="18" charset="0"/>
                </a:rPr>
                <a:t>Agenda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9CD570-341A-F3FC-B686-5C3A1A73629D}"/>
                </a:ext>
              </a:extLst>
            </p:cNvPr>
            <p:cNvSpPr txBox="1"/>
            <p:nvPr/>
          </p:nvSpPr>
          <p:spPr>
            <a:xfrm>
              <a:off x="115707" y="2130467"/>
              <a:ext cx="2449607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This presentation aims to outline the design and fabrication of a manual lead-screw-driven scissor lift by combining strong mechanical design methods with accurate modeling and material-based performance assessment.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Hexagon 1">
            <a:extLst>
              <a:ext uri="{FF2B5EF4-FFF2-40B4-BE49-F238E27FC236}">
                <a16:creationId xmlns:a16="http://schemas.microsoft.com/office/drawing/2014/main" id="{8EE6ACC0-54B6-E0C1-8566-2C5571479889}"/>
              </a:ext>
            </a:extLst>
          </p:cNvPr>
          <p:cNvSpPr/>
          <p:nvPr/>
        </p:nvSpPr>
        <p:spPr>
          <a:xfrm rot="7774547">
            <a:off x="10187758" y="5062613"/>
            <a:ext cx="1123304" cy="1060679"/>
          </a:xfrm>
          <a:prstGeom prst="hexagon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296191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D457C-58EE-6930-4A91-8F7867671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09503B-4C66-F311-9D70-08C9FF8AC3C9}"/>
              </a:ext>
            </a:extLst>
          </p:cNvPr>
          <p:cNvSpPr txBox="1"/>
          <p:nvPr/>
        </p:nvSpPr>
        <p:spPr>
          <a:xfrm>
            <a:off x="1614674" y="1143967"/>
            <a:ext cx="51489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>
                    <a:lumMod val="95000"/>
                  </a:schemeClr>
                </a:solidFill>
                <a:latin typeface="Elephant" panose="02020904090505020303" pitchFamily="18" charset="0"/>
              </a:rPr>
              <a:t>Team members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EEBE00-2BEE-8770-2F16-FC1F426B735C}"/>
              </a:ext>
            </a:extLst>
          </p:cNvPr>
          <p:cNvSpPr txBox="1"/>
          <p:nvPr/>
        </p:nvSpPr>
        <p:spPr>
          <a:xfrm>
            <a:off x="4736235" y="3606831"/>
            <a:ext cx="10744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FFFF00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Mohammad Arshad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FFFF00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Mohit Raj </a:t>
            </a:r>
            <a:r>
              <a:rPr lang="en-IN" sz="3200" dirty="0" err="1">
                <a:solidFill>
                  <a:srgbClr val="FFFF00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Sutrave</a:t>
            </a:r>
            <a:endParaRPr lang="en-IN" sz="3200" dirty="0">
              <a:solidFill>
                <a:srgbClr val="FFFF00"/>
              </a:solidFill>
              <a:latin typeface="Adobe Hebrew" panose="02040503050201020203" pitchFamily="18" charset="-79"/>
              <a:cs typeface="Adobe Hebrew" panose="02040503050201020203" pitchFamily="18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FFFF00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Mohammed Khaja Ahmed</a:t>
            </a: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54D0F896-D31B-A03A-593D-9A3482852AB4}"/>
              </a:ext>
            </a:extLst>
          </p:cNvPr>
          <p:cNvSpPr/>
          <p:nvPr/>
        </p:nvSpPr>
        <p:spPr>
          <a:xfrm rot="5400000">
            <a:off x="9703237" y="5584390"/>
            <a:ext cx="1123304" cy="1060679"/>
          </a:xfrm>
          <a:prstGeom prst="hexagon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BD472195-FCF1-4EB9-4DD0-5405B3039314}"/>
              </a:ext>
            </a:extLst>
          </p:cNvPr>
          <p:cNvSpPr/>
          <p:nvPr/>
        </p:nvSpPr>
        <p:spPr>
          <a:xfrm rot="10800000">
            <a:off x="4736235" y="250711"/>
            <a:ext cx="931854" cy="844171"/>
          </a:xfrm>
          <a:prstGeom prst="hexagon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CC0A5BCC-F4F1-523B-A4B3-8AAE21C58475}"/>
              </a:ext>
            </a:extLst>
          </p:cNvPr>
          <p:cNvSpPr/>
          <p:nvPr/>
        </p:nvSpPr>
        <p:spPr>
          <a:xfrm rot="10066464">
            <a:off x="1437595" y="5336224"/>
            <a:ext cx="1628775" cy="1364796"/>
          </a:xfrm>
          <a:prstGeom prst="hexagon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B0ED4C-C617-906C-868F-D46E59072E17}"/>
              </a:ext>
            </a:extLst>
          </p:cNvPr>
          <p:cNvGrpSpPr/>
          <p:nvPr/>
        </p:nvGrpSpPr>
        <p:grpSpPr>
          <a:xfrm>
            <a:off x="-4972050" y="-380700"/>
            <a:ext cx="4972050" cy="8229600"/>
            <a:chOff x="-2352597" y="-321566"/>
            <a:chExt cx="4972050" cy="8229600"/>
          </a:xfrm>
          <a:solidFill>
            <a:srgbClr val="4B6B96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78D097-26F8-4DC2-BE60-83D9630037CA}"/>
                </a:ext>
              </a:extLst>
            </p:cNvPr>
            <p:cNvSpPr/>
            <p:nvPr/>
          </p:nvSpPr>
          <p:spPr>
            <a:xfrm>
              <a:off x="-2352597" y="-321566"/>
              <a:ext cx="4972050" cy="8229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2CE4B2-2950-089B-7587-56FA0E708A89}"/>
                </a:ext>
              </a:extLst>
            </p:cNvPr>
            <p:cNvSpPr txBox="1"/>
            <p:nvPr/>
          </p:nvSpPr>
          <p:spPr>
            <a:xfrm>
              <a:off x="333458" y="745527"/>
              <a:ext cx="2178146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IN" sz="3600" dirty="0">
                  <a:solidFill>
                    <a:schemeClr val="bg1"/>
                  </a:solidFill>
                  <a:latin typeface="Cooper Black" panose="0208090404030B020404" pitchFamily="18" charset="0"/>
                </a:rPr>
                <a:t>Agenda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F65FBAB-EBEF-0D0E-0757-946DF6216764}"/>
                </a:ext>
              </a:extLst>
            </p:cNvPr>
            <p:cNvSpPr txBox="1"/>
            <p:nvPr/>
          </p:nvSpPr>
          <p:spPr>
            <a:xfrm>
              <a:off x="115707" y="2130467"/>
              <a:ext cx="2449607" cy="34163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This presentation aims to outline the design and fabrication of a manual lead-screw-driven scissor lift by combining strong mechanical design methods with accurate modeling and material-based performance assessment.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6666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9B8CCB-A329-79DF-7DE0-2DB5B84FF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3B85287-8278-A78E-48CE-46B72B2F6CE0}"/>
              </a:ext>
            </a:extLst>
          </p:cNvPr>
          <p:cNvGrpSpPr/>
          <p:nvPr/>
        </p:nvGrpSpPr>
        <p:grpSpPr>
          <a:xfrm>
            <a:off x="-2352597" y="-321566"/>
            <a:ext cx="4972050" cy="8229600"/>
            <a:chOff x="-2352597" y="-321566"/>
            <a:chExt cx="4972050" cy="8229600"/>
          </a:xfrm>
          <a:solidFill>
            <a:srgbClr val="4B6B96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356F525-165D-296E-D23D-39C281D59A20}"/>
                </a:ext>
              </a:extLst>
            </p:cNvPr>
            <p:cNvSpPr/>
            <p:nvPr/>
          </p:nvSpPr>
          <p:spPr>
            <a:xfrm>
              <a:off x="-2352597" y="-321566"/>
              <a:ext cx="4972050" cy="8229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BE4831-098A-6EDE-3893-948DB15E85FD}"/>
                </a:ext>
              </a:extLst>
            </p:cNvPr>
            <p:cNvSpPr txBox="1"/>
            <p:nvPr/>
          </p:nvSpPr>
          <p:spPr>
            <a:xfrm>
              <a:off x="333458" y="745527"/>
              <a:ext cx="2178146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IN" sz="3600" dirty="0">
                  <a:solidFill>
                    <a:schemeClr val="bg1"/>
                  </a:solidFill>
                  <a:latin typeface="Cooper Black" panose="0208090404030B020404" pitchFamily="18" charset="0"/>
                </a:rPr>
                <a:t>Agenda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F65785C-ABA9-0561-9515-F1E7FC0315FC}"/>
                </a:ext>
              </a:extLst>
            </p:cNvPr>
            <p:cNvSpPr txBox="1"/>
            <p:nvPr/>
          </p:nvSpPr>
          <p:spPr>
            <a:xfrm>
              <a:off x="115707" y="2130467"/>
              <a:ext cx="2449607" cy="34163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This presentation aims to outline the design and fabrication of a manual lead-screw-driven scissor lift by combining strong mechanical design methods with accurate modeling and material-based performance assessment.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5446554-DEAE-7FC9-B1D4-DD25CDA3DA20}"/>
              </a:ext>
            </a:extLst>
          </p:cNvPr>
          <p:cNvGrpSpPr/>
          <p:nvPr/>
        </p:nvGrpSpPr>
        <p:grpSpPr>
          <a:xfrm>
            <a:off x="-2515200" y="0"/>
            <a:ext cx="2515200" cy="6858000"/>
            <a:chOff x="9676800" y="0"/>
            <a:chExt cx="2515200" cy="68580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C4385E-C2D1-85D4-7859-A77B432C5198}"/>
                </a:ext>
              </a:extLst>
            </p:cNvPr>
            <p:cNvSpPr/>
            <p:nvPr/>
          </p:nvSpPr>
          <p:spPr>
            <a:xfrm>
              <a:off x="9676800" y="0"/>
              <a:ext cx="2515200" cy="6858000"/>
            </a:xfrm>
            <a:prstGeom prst="rect">
              <a:avLst/>
            </a:prstGeom>
            <a:solidFill>
              <a:srgbClr val="00537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8C62FD8-62FE-30C3-267E-D763D36B6C7F}"/>
                </a:ext>
              </a:extLst>
            </p:cNvPr>
            <p:cNvSpPr txBox="1"/>
            <p:nvPr/>
          </p:nvSpPr>
          <p:spPr>
            <a:xfrm>
              <a:off x="10339233" y="407774"/>
              <a:ext cx="1186248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0" dirty="0">
                  <a:solidFill>
                    <a:schemeClr val="bg1">
                      <a:lumMod val="95000"/>
                    </a:schemeClr>
                  </a:solidFill>
                  <a:latin typeface="Bauhaus 93" panose="04030905020B02020C02" pitchFamily="82" charset="0"/>
                  <a:ea typeface="Microsoft YaHei" panose="020B0503020204020204" pitchFamily="34" charset="-122"/>
                </a:rPr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17D6F8D-5DF3-7BB0-1A89-922F74FBFAD4}"/>
                </a:ext>
              </a:extLst>
            </p:cNvPr>
            <p:cNvSpPr txBox="1"/>
            <p:nvPr/>
          </p:nvSpPr>
          <p:spPr>
            <a:xfrm>
              <a:off x="10013854" y="3369107"/>
              <a:ext cx="2178146" cy="9538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2400" kern="100" dirty="0">
                  <a:effectLst/>
                  <a:latin typeface="Berlin Sans FB Demi" panose="020E0802020502020306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Conclusion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IN" sz="2400" kern="100" dirty="0">
                <a:effectLst/>
                <a:latin typeface="Berlin Sans FB Demi" panose="020E0802020502020306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53756DD-C1AA-F6AC-0C66-AEBE4340AAB5}"/>
              </a:ext>
            </a:extLst>
          </p:cNvPr>
          <p:cNvGrpSpPr/>
          <p:nvPr/>
        </p:nvGrpSpPr>
        <p:grpSpPr>
          <a:xfrm>
            <a:off x="-2552628" y="1"/>
            <a:ext cx="2686056" cy="6858000"/>
            <a:chOff x="7257600" y="0"/>
            <a:chExt cx="2686056" cy="68580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87ED131-1C22-6D1E-AD1D-C6C2DE4A879C}"/>
                </a:ext>
              </a:extLst>
            </p:cNvPr>
            <p:cNvGrpSpPr/>
            <p:nvPr/>
          </p:nvGrpSpPr>
          <p:grpSpPr>
            <a:xfrm>
              <a:off x="7257600" y="0"/>
              <a:ext cx="2419200" cy="6858000"/>
              <a:chOff x="7257600" y="0"/>
              <a:chExt cx="2419200" cy="68580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E27C50E-E484-D1E2-5FB2-0D725F5727F7}"/>
                  </a:ext>
                </a:extLst>
              </p:cNvPr>
              <p:cNvSpPr/>
              <p:nvPr/>
            </p:nvSpPr>
            <p:spPr>
              <a:xfrm>
                <a:off x="7257600" y="0"/>
                <a:ext cx="2419200" cy="6858000"/>
              </a:xfrm>
              <a:prstGeom prst="rect">
                <a:avLst/>
              </a:prstGeom>
              <a:solidFill>
                <a:srgbClr val="0097C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9B53CB-69AC-7ADB-08E1-2016FED6D55C}"/>
                  </a:ext>
                </a:extLst>
              </p:cNvPr>
              <p:cNvSpPr txBox="1"/>
              <p:nvPr/>
            </p:nvSpPr>
            <p:spPr>
              <a:xfrm>
                <a:off x="7874076" y="407774"/>
                <a:ext cx="1186248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5000" dirty="0">
                    <a:solidFill>
                      <a:schemeClr val="bg1">
                        <a:lumMod val="95000"/>
                      </a:schemeClr>
                    </a:solidFill>
                    <a:latin typeface="Bauhaus 93" panose="04030905020B02020C02" pitchFamily="82" charset="0"/>
                    <a:ea typeface="Microsoft YaHei" panose="020B0503020204020204" pitchFamily="34" charset="-122"/>
                  </a:rPr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A055410-662C-990C-2BEE-AB0C9E3A32AD}"/>
                  </a:ext>
                </a:extLst>
              </p:cNvPr>
              <p:cNvSpPr txBox="1"/>
              <p:nvPr/>
            </p:nvSpPr>
            <p:spPr>
              <a:xfrm>
                <a:off x="7531507" y="3367604"/>
                <a:ext cx="1865871" cy="456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IN" sz="2400" kern="100" dirty="0">
                    <a:effectLst/>
                    <a:latin typeface="Berlin Sans FB Demi" panose="020E08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Calculations</a:t>
                </a:r>
              </a:p>
            </p:txBody>
          </p:sp>
        </p:grp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954425C9-0FE2-06D7-508C-2B0A9A913982}"/>
                </a:ext>
              </a:extLst>
            </p:cNvPr>
            <p:cNvSpPr/>
            <p:nvPr/>
          </p:nvSpPr>
          <p:spPr>
            <a:xfrm rot="5400000">
              <a:off x="9393780" y="610965"/>
              <a:ext cx="830627" cy="269124"/>
            </a:xfrm>
            <a:prstGeom prst="triangle">
              <a:avLst/>
            </a:prstGeom>
            <a:solidFill>
              <a:srgbClr val="0097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DE32661-0510-27B1-BB03-9387E61E4BFD}"/>
              </a:ext>
            </a:extLst>
          </p:cNvPr>
          <p:cNvGrpSpPr/>
          <p:nvPr/>
        </p:nvGrpSpPr>
        <p:grpSpPr>
          <a:xfrm>
            <a:off x="-2869525" y="1"/>
            <a:ext cx="2686055" cy="6858000"/>
            <a:chOff x="4838400" y="0"/>
            <a:chExt cx="2686055" cy="68580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7641D71-E01C-CD5B-23B1-A27947ECD202}"/>
                </a:ext>
              </a:extLst>
            </p:cNvPr>
            <p:cNvGrpSpPr/>
            <p:nvPr/>
          </p:nvGrpSpPr>
          <p:grpSpPr>
            <a:xfrm>
              <a:off x="4838400" y="0"/>
              <a:ext cx="2419200" cy="6858000"/>
              <a:chOff x="4838400" y="0"/>
              <a:chExt cx="2419200" cy="68580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F379FF1-2806-6FA2-7648-743DB1773FE1}"/>
                  </a:ext>
                </a:extLst>
              </p:cNvPr>
              <p:cNvSpPr/>
              <p:nvPr/>
            </p:nvSpPr>
            <p:spPr>
              <a:xfrm>
                <a:off x="4838400" y="0"/>
                <a:ext cx="2419200" cy="685800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9BB232-BF47-0053-64D0-5552C7EFBB73}"/>
                  </a:ext>
                </a:extLst>
              </p:cNvPr>
              <p:cNvSpPr txBox="1"/>
              <p:nvPr/>
            </p:nvSpPr>
            <p:spPr>
              <a:xfrm>
                <a:off x="5502876" y="407774"/>
                <a:ext cx="1186248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5000" dirty="0">
                    <a:solidFill>
                      <a:schemeClr val="bg1">
                        <a:lumMod val="95000"/>
                      </a:schemeClr>
                    </a:solidFill>
                    <a:latin typeface="Bauhaus 93" panose="04030905020B02020C02" pitchFamily="82" charset="0"/>
                    <a:ea typeface="Microsoft YaHei" panose="020B0503020204020204" pitchFamily="34" charset="-122"/>
                  </a:rPr>
                  <a:t>3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13FFB47-B0B5-CCA9-76A1-DCFCE9231613}"/>
                  </a:ext>
                </a:extLst>
              </p:cNvPr>
              <p:cNvSpPr txBox="1"/>
              <p:nvPr/>
            </p:nvSpPr>
            <p:spPr>
              <a:xfrm>
                <a:off x="4907894" y="3367604"/>
                <a:ext cx="2101410" cy="851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IN" sz="2400" kern="100" dirty="0" err="1">
                    <a:effectLst/>
                    <a:latin typeface="Berlin Sans FB Demi" panose="020E08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Modeling</a:t>
                </a:r>
                <a:r>
                  <a:rPr lang="en-IN" sz="2400" kern="100" dirty="0">
                    <a:effectLst/>
                    <a:latin typeface="Berlin Sans FB Demi" panose="020E08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and Assembly</a:t>
                </a:r>
              </a:p>
            </p:txBody>
          </p:sp>
        </p:grp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A8DCB473-116B-E391-EECF-E4597F7192A3}"/>
                </a:ext>
              </a:extLst>
            </p:cNvPr>
            <p:cNvSpPr/>
            <p:nvPr/>
          </p:nvSpPr>
          <p:spPr>
            <a:xfrm rot="5400000">
              <a:off x="6974579" y="610965"/>
              <a:ext cx="830627" cy="269124"/>
            </a:xfrm>
            <a:prstGeom prst="triangl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174E094-35ED-7373-B878-1747DB274FE6}"/>
              </a:ext>
            </a:extLst>
          </p:cNvPr>
          <p:cNvGrpSpPr/>
          <p:nvPr/>
        </p:nvGrpSpPr>
        <p:grpSpPr>
          <a:xfrm>
            <a:off x="-3215938" y="1"/>
            <a:ext cx="2700344" cy="6858000"/>
            <a:chOff x="2419200" y="0"/>
            <a:chExt cx="2700344" cy="68580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D710091-E539-8FA7-352A-0B3D0BB6FF07}"/>
                </a:ext>
              </a:extLst>
            </p:cNvPr>
            <p:cNvGrpSpPr/>
            <p:nvPr/>
          </p:nvGrpSpPr>
          <p:grpSpPr>
            <a:xfrm>
              <a:off x="2419200" y="0"/>
              <a:ext cx="2419200" cy="6858000"/>
              <a:chOff x="2419200" y="0"/>
              <a:chExt cx="2419200" cy="68580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F3C21F3-69C0-EFFE-9B06-4095B5D6679E}"/>
                  </a:ext>
                </a:extLst>
              </p:cNvPr>
              <p:cNvSpPr/>
              <p:nvPr/>
            </p:nvSpPr>
            <p:spPr>
              <a:xfrm>
                <a:off x="2419200" y="0"/>
                <a:ext cx="2419200" cy="6858000"/>
              </a:xfrm>
              <a:prstGeom prst="rect">
                <a:avLst/>
              </a:prstGeom>
              <a:solidFill>
                <a:srgbClr val="6DD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C151B8-5CB4-6988-029D-3B86C519F111}"/>
                  </a:ext>
                </a:extLst>
              </p:cNvPr>
              <p:cNvSpPr txBox="1"/>
              <p:nvPr/>
            </p:nvSpPr>
            <p:spPr>
              <a:xfrm>
                <a:off x="2925828" y="407774"/>
                <a:ext cx="1186248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5000" dirty="0">
                    <a:solidFill>
                      <a:schemeClr val="bg1">
                        <a:lumMod val="95000"/>
                      </a:schemeClr>
                    </a:solidFill>
                    <a:latin typeface="Bauhaus 93" panose="04030905020B02020C02" pitchFamily="82" charset="0"/>
                    <a:ea typeface="Microsoft YaHei" panose="020B0503020204020204" pitchFamily="34" charset="-122"/>
                  </a:rPr>
                  <a:t>2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75003E2-E46B-C504-A8C7-CA60DFB739EC}"/>
                  </a:ext>
                </a:extLst>
              </p:cNvPr>
              <p:cNvSpPr txBox="1"/>
              <p:nvPr/>
            </p:nvSpPr>
            <p:spPr>
              <a:xfrm>
                <a:off x="2609367" y="3428999"/>
                <a:ext cx="2009336" cy="12464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IN" sz="2400" kern="100" dirty="0">
                    <a:effectLst/>
                    <a:latin typeface="Berlin Sans FB Demi" panose="020E08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Design Considerations</a:t>
                </a:r>
              </a:p>
            </p:txBody>
          </p:sp>
        </p:grp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E2C51FC9-3590-459F-CF5E-946DD886BA68}"/>
                </a:ext>
              </a:extLst>
            </p:cNvPr>
            <p:cNvSpPr/>
            <p:nvPr/>
          </p:nvSpPr>
          <p:spPr>
            <a:xfrm rot="5400000">
              <a:off x="4569668" y="610964"/>
              <a:ext cx="830627" cy="269124"/>
            </a:xfrm>
            <a:prstGeom prst="triangle">
              <a:avLst/>
            </a:prstGeom>
            <a:solidFill>
              <a:srgbClr val="6DD9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478DBE1-4157-AD67-02DF-09D46D944961}"/>
              </a:ext>
            </a:extLst>
          </p:cNvPr>
          <p:cNvGrpSpPr/>
          <p:nvPr/>
        </p:nvGrpSpPr>
        <p:grpSpPr>
          <a:xfrm>
            <a:off x="-3599270" y="1"/>
            <a:ext cx="2687190" cy="6858000"/>
            <a:chOff x="0" y="0"/>
            <a:chExt cx="2687190" cy="68580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CAA7286-0E8B-2505-3333-08DF74B8A16D}"/>
                </a:ext>
              </a:extLst>
            </p:cNvPr>
            <p:cNvGrpSpPr/>
            <p:nvPr/>
          </p:nvGrpSpPr>
          <p:grpSpPr>
            <a:xfrm>
              <a:off x="0" y="0"/>
              <a:ext cx="2419200" cy="6858000"/>
              <a:chOff x="0" y="0"/>
              <a:chExt cx="2419200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B88865-4DAA-A287-9D6B-22D91F5FF00F}"/>
                  </a:ext>
                </a:extLst>
              </p:cNvPr>
              <p:cNvSpPr/>
              <p:nvPr/>
            </p:nvSpPr>
            <p:spPr>
              <a:xfrm>
                <a:off x="0" y="0"/>
                <a:ext cx="2419200" cy="6858000"/>
              </a:xfrm>
              <a:prstGeom prst="rect">
                <a:avLst/>
              </a:prstGeom>
              <a:solidFill>
                <a:srgbClr val="AFEA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C7BC4D-A99D-6232-558C-F6F23E5B5DDB}"/>
                  </a:ext>
                </a:extLst>
              </p:cNvPr>
              <p:cNvSpPr txBox="1"/>
              <p:nvPr/>
            </p:nvSpPr>
            <p:spPr>
              <a:xfrm>
                <a:off x="506628" y="407774"/>
                <a:ext cx="1186248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5000" dirty="0">
                    <a:solidFill>
                      <a:schemeClr val="bg1">
                        <a:lumMod val="95000"/>
                      </a:schemeClr>
                    </a:solidFill>
                    <a:latin typeface="Bauhaus 93" panose="04030905020B02020C02" pitchFamily="82" charset="0"/>
                    <a:ea typeface="Microsoft YaHei" panose="020B0503020204020204" pitchFamily="34" charset="-122"/>
                  </a:rPr>
                  <a:t>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D3867C-F903-D1EA-1F82-7DFDF9CEF614}"/>
                  </a:ext>
                </a:extLst>
              </p:cNvPr>
              <p:cNvSpPr txBox="1"/>
              <p:nvPr/>
            </p:nvSpPr>
            <p:spPr>
              <a:xfrm>
                <a:off x="333632" y="3429000"/>
                <a:ext cx="1865871" cy="16416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IN" sz="2400" kern="100" dirty="0">
                    <a:effectLst/>
                    <a:latin typeface="Berlin Sans FB Demi" panose="020E08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Project Overview &amp; Problem Statement</a:t>
                </a:r>
              </a:p>
            </p:txBody>
          </p:sp>
        </p:grp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63A08A6B-A100-569C-DDB2-6DAADC1E293E}"/>
                </a:ext>
              </a:extLst>
            </p:cNvPr>
            <p:cNvSpPr/>
            <p:nvPr/>
          </p:nvSpPr>
          <p:spPr>
            <a:xfrm rot="5400000">
              <a:off x="2137314" y="610965"/>
              <a:ext cx="830627" cy="269124"/>
            </a:xfrm>
            <a:prstGeom prst="triangle">
              <a:avLst/>
            </a:prstGeom>
            <a:solidFill>
              <a:srgbClr val="AFEA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F65E28F-EC82-23A9-2AE4-90D5A62B5A85}"/>
              </a:ext>
            </a:extLst>
          </p:cNvPr>
          <p:cNvSpPr txBox="1"/>
          <p:nvPr/>
        </p:nvSpPr>
        <p:spPr>
          <a:xfrm>
            <a:off x="6573892" y="1608101"/>
            <a:ext cx="56181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0" dirty="0">
                <a:solidFill>
                  <a:schemeClr val="bg1"/>
                </a:solidFill>
                <a:latin typeface="Cooper Black" panose="0208090404030B020404" pitchFamily="18" charset="0"/>
              </a:rPr>
              <a:t>FIVE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F6E179-F0E4-E967-BFBE-2456AEA09912}"/>
              </a:ext>
            </a:extLst>
          </p:cNvPr>
          <p:cNvSpPr txBox="1"/>
          <p:nvPr/>
        </p:nvSpPr>
        <p:spPr>
          <a:xfrm>
            <a:off x="8014720" y="3124538"/>
            <a:ext cx="3447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FFFF00"/>
                </a:solidFill>
                <a:latin typeface="Bradley Hand ITC" panose="03070402050302030203" pitchFamily="66" charset="0"/>
              </a:rPr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1680870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1574E60D-5B9D-1344-8348-C27277436871}"/>
              </a:ext>
            </a:extLst>
          </p:cNvPr>
          <p:cNvGrpSpPr/>
          <p:nvPr/>
        </p:nvGrpSpPr>
        <p:grpSpPr>
          <a:xfrm>
            <a:off x="-4789343" y="-321567"/>
            <a:ext cx="4972050" cy="8229600"/>
            <a:chOff x="-2352597" y="-321566"/>
            <a:chExt cx="4972050" cy="8229600"/>
          </a:xfrm>
          <a:solidFill>
            <a:srgbClr val="4B6B96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E44F33D-54DF-4AA2-12FF-1CE4B5EF488F}"/>
                </a:ext>
              </a:extLst>
            </p:cNvPr>
            <p:cNvSpPr/>
            <p:nvPr/>
          </p:nvSpPr>
          <p:spPr>
            <a:xfrm>
              <a:off x="-2352597" y="-321566"/>
              <a:ext cx="4972050" cy="8229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FEF993A-B952-B2A0-4E26-47319192C086}"/>
                </a:ext>
              </a:extLst>
            </p:cNvPr>
            <p:cNvSpPr txBox="1"/>
            <p:nvPr/>
          </p:nvSpPr>
          <p:spPr>
            <a:xfrm>
              <a:off x="333458" y="745527"/>
              <a:ext cx="2178146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IN" sz="3600" dirty="0">
                  <a:solidFill>
                    <a:schemeClr val="bg1"/>
                  </a:solidFill>
                  <a:latin typeface="Cooper Black" panose="0208090404030B020404" pitchFamily="18" charset="0"/>
                </a:rPr>
                <a:t>Agenda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DC261EF-ECE1-1F5C-19CC-1E23B9DE9436}"/>
                </a:ext>
              </a:extLst>
            </p:cNvPr>
            <p:cNvSpPr txBox="1"/>
            <p:nvPr/>
          </p:nvSpPr>
          <p:spPr>
            <a:xfrm>
              <a:off x="115707" y="2130467"/>
              <a:ext cx="2449607" cy="34163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This presentation aims to outline the design and fabrication of a manual lead-screw-driven scissor lift by combining strong mechanical design methods with accurate modeling and material-based performance assessment.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B190E39B-2F3E-7C0E-2DEF-394DF3A82371}"/>
              </a:ext>
            </a:extLst>
          </p:cNvPr>
          <p:cNvSpPr txBox="1"/>
          <p:nvPr/>
        </p:nvSpPr>
        <p:spPr>
          <a:xfrm>
            <a:off x="6573892" y="1608101"/>
            <a:ext cx="56181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0" dirty="0">
                <a:solidFill>
                  <a:schemeClr val="bg1"/>
                </a:solidFill>
                <a:latin typeface="Cooper Black" panose="0208090404030B020404" pitchFamily="18" charset="0"/>
              </a:rPr>
              <a:t>FIVE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B5B93C-CE97-76B1-867F-EDF39C1C47D0}"/>
              </a:ext>
            </a:extLst>
          </p:cNvPr>
          <p:cNvSpPr txBox="1"/>
          <p:nvPr/>
        </p:nvSpPr>
        <p:spPr>
          <a:xfrm>
            <a:off x="8014720" y="3124538"/>
            <a:ext cx="3447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FFFF00"/>
                </a:solidFill>
                <a:latin typeface="Bradley Hand ITC" panose="03070402050302030203" pitchFamily="66" charset="0"/>
              </a:rPr>
              <a:t>STEPS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E697416-7C44-D15F-36A7-0090A244B1EF}"/>
              </a:ext>
            </a:extLst>
          </p:cNvPr>
          <p:cNvGrpSpPr/>
          <p:nvPr/>
        </p:nvGrpSpPr>
        <p:grpSpPr>
          <a:xfrm>
            <a:off x="725792" y="-2"/>
            <a:ext cx="2515200" cy="6858000"/>
            <a:chOff x="9676800" y="0"/>
            <a:chExt cx="2515200" cy="68580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EDEBA5-E155-9F43-7BF9-1E5AEFE16D24}"/>
                </a:ext>
              </a:extLst>
            </p:cNvPr>
            <p:cNvSpPr/>
            <p:nvPr/>
          </p:nvSpPr>
          <p:spPr>
            <a:xfrm>
              <a:off x="9676800" y="0"/>
              <a:ext cx="2515200" cy="6858000"/>
            </a:xfrm>
            <a:prstGeom prst="rect">
              <a:avLst/>
            </a:prstGeom>
            <a:solidFill>
              <a:srgbClr val="00537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BDC414C-6A35-9C3E-6293-164EBCD2879B}"/>
                </a:ext>
              </a:extLst>
            </p:cNvPr>
            <p:cNvSpPr txBox="1"/>
            <p:nvPr/>
          </p:nvSpPr>
          <p:spPr>
            <a:xfrm>
              <a:off x="10339233" y="407774"/>
              <a:ext cx="1186248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0" dirty="0">
                  <a:solidFill>
                    <a:schemeClr val="bg1">
                      <a:lumMod val="95000"/>
                    </a:schemeClr>
                  </a:solidFill>
                  <a:latin typeface="Bauhaus 93" panose="04030905020B02020C02" pitchFamily="82" charset="0"/>
                  <a:ea typeface="Microsoft YaHei" panose="020B0503020204020204" pitchFamily="34" charset="-122"/>
                </a:rPr>
                <a:t>5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6D90417-606E-546A-41B4-615CC8254A6A}"/>
                </a:ext>
              </a:extLst>
            </p:cNvPr>
            <p:cNvSpPr txBox="1"/>
            <p:nvPr/>
          </p:nvSpPr>
          <p:spPr>
            <a:xfrm>
              <a:off x="10013854" y="3369107"/>
              <a:ext cx="2178146" cy="9538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2400" kern="100" dirty="0">
                  <a:effectLst/>
                  <a:latin typeface="Berlin Sans FB Demi" panose="020E0802020502020306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Conclusion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IN" sz="2400" kern="100" dirty="0">
                <a:effectLst/>
                <a:latin typeface="Berlin Sans FB Demi" panose="020E0802020502020306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FCF1078-F430-5771-F137-776795EB8410}"/>
              </a:ext>
            </a:extLst>
          </p:cNvPr>
          <p:cNvGrpSpPr/>
          <p:nvPr/>
        </p:nvGrpSpPr>
        <p:grpSpPr>
          <a:xfrm>
            <a:off x="751594" y="-1"/>
            <a:ext cx="2686056" cy="6858000"/>
            <a:chOff x="7257600" y="0"/>
            <a:chExt cx="2686056" cy="68580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5D9A20E-5442-CD06-0B49-C09A30DDBFFB}"/>
                </a:ext>
              </a:extLst>
            </p:cNvPr>
            <p:cNvGrpSpPr/>
            <p:nvPr/>
          </p:nvGrpSpPr>
          <p:grpSpPr>
            <a:xfrm>
              <a:off x="7257600" y="0"/>
              <a:ext cx="2552628" cy="6858000"/>
              <a:chOff x="7257600" y="0"/>
              <a:chExt cx="2552628" cy="68580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03DAE8B-3D71-45BC-B595-1BB26D6C78EB}"/>
                  </a:ext>
                </a:extLst>
              </p:cNvPr>
              <p:cNvSpPr/>
              <p:nvPr/>
            </p:nvSpPr>
            <p:spPr>
              <a:xfrm>
                <a:off x="7257600" y="0"/>
                <a:ext cx="2419200" cy="6858000"/>
              </a:xfrm>
              <a:prstGeom prst="rect">
                <a:avLst/>
              </a:prstGeom>
              <a:solidFill>
                <a:srgbClr val="0097C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1789202-7FBB-EFA0-B663-9682088900E9}"/>
                  </a:ext>
                </a:extLst>
              </p:cNvPr>
              <p:cNvSpPr txBox="1"/>
              <p:nvPr/>
            </p:nvSpPr>
            <p:spPr>
              <a:xfrm>
                <a:off x="7874076" y="407774"/>
                <a:ext cx="1186248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5000" dirty="0">
                    <a:solidFill>
                      <a:schemeClr val="bg1">
                        <a:lumMod val="95000"/>
                      </a:schemeClr>
                    </a:solidFill>
                    <a:latin typeface="Bauhaus 93" panose="04030905020B02020C02" pitchFamily="82" charset="0"/>
                    <a:ea typeface="Microsoft YaHei" panose="020B0503020204020204" pitchFamily="34" charset="-122"/>
                  </a:rPr>
                  <a:t>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51BA328-24E7-89C8-DFD0-8A366F278CE1}"/>
                  </a:ext>
                </a:extLst>
              </p:cNvPr>
              <p:cNvSpPr txBox="1"/>
              <p:nvPr/>
            </p:nvSpPr>
            <p:spPr>
              <a:xfrm>
                <a:off x="7344440" y="3369107"/>
                <a:ext cx="2465788" cy="456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IN" sz="2400" kern="100" dirty="0">
                    <a:effectLst/>
                    <a:latin typeface="Berlin Sans FB Demi" panose="020E08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Calculations</a:t>
                </a:r>
              </a:p>
            </p:txBody>
          </p:sp>
        </p:grp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827042EC-9B4C-757A-7EFF-29B2FA6E192E}"/>
                </a:ext>
              </a:extLst>
            </p:cNvPr>
            <p:cNvSpPr/>
            <p:nvPr/>
          </p:nvSpPr>
          <p:spPr>
            <a:xfrm rot="5400000">
              <a:off x="9393780" y="610965"/>
              <a:ext cx="830627" cy="269124"/>
            </a:xfrm>
            <a:prstGeom prst="triangle">
              <a:avLst/>
            </a:prstGeom>
            <a:solidFill>
              <a:srgbClr val="0097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6505387-E631-F50B-5783-8EDF9E87ED44}"/>
              </a:ext>
            </a:extLst>
          </p:cNvPr>
          <p:cNvGrpSpPr/>
          <p:nvPr/>
        </p:nvGrpSpPr>
        <p:grpSpPr>
          <a:xfrm>
            <a:off x="681396" y="0"/>
            <a:ext cx="2686055" cy="6858000"/>
            <a:chOff x="4838400" y="0"/>
            <a:chExt cx="2686055" cy="68580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B73DA48-3BCB-3C83-4C4B-775847A973DB}"/>
                </a:ext>
              </a:extLst>
            </p:cNvPr>
            <p:cNvGrpSpPr/>
            <p:nvPr/>
          </p:nvGrpSpPr>
          <p:grpSpPr>
            <a:xfrm>
              <a:off x="4838400" y="0"/>
              <a:ext cx="2419200" cy="6858000"/>
              <a:chOff x="4838400" y="0"/>
              <a:chExt cx="2419200" cy="68580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BEFE686-99F7-36E4-4327-D98D141637DA}"/>
                  </a:ext>
                </a:extLst>
              </p:cNvPr>
              <p:cNvSpPr/>
              <p:nvPr/>
            </p:nvSpPr>
            <p:spPr>
              <a:xfrm>
                <a:off x="4838400" y="0"/>
                <a:ext cx="2419200" cy="685800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52F8410-A5A9-07DB-CCB3-F098987F6C3D}"/>
                  </a:ext>
                </a:extLst>
              </p:cNvPr>
              <p:cNvSpPr txBox="1"/>
              <p:nvPr/>
            </p:nvSpPr>
            <p:spPr>
              <a:xfrm>
                <a:off x="5502876" y="407774"/>
                <a:ext cx="1186248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5000" dirty="0">
                    <a:solidFill>
                      <a:schemeClr val="bg1">
                        <a:lumMod val="95000"/>
                      </a:schemeClr>
                    </a:solidFill>
                    <a:latin typeface="Bauhaus 93" panose="04030905020B02020C02" pitchFamily="82" charset="0"/>
                    <a:ea typeface="Microsoft YaHei" panose="020B0503020204020204" pitchFamily="34" charset="-122"/>
                  </a:rPr>
                  <a:t>3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2A70E4D-CADF-EBF2-F9FB-05445BA5E594}"/>
                  </a:ext>
                </a:extLst>
              </p:cNvPr>
              <p:cNvSpPr txBox="1"/>
              <p:nvPr/>
            </p:nvSpPr>
            <p:spPr>
              <a:xfrm>
                <a:off x="4995438" y="3338649"/>
                <a:ext cx="2235780" cy="851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IN" sz="2400" kern="100" dirty="0" err="1">
                    <a:effectLst/>
                    <a:latin typeface="Berlin Sans FB Demi" panose="020E08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Modeling</a:t>
                </a:r>
                <a:r>
                  <a:rPr lang="en-IN" sz="2400" kern="100" dirty="0">
                    <a:effectLst/>
                    <a:latin typeface="Berlin Sans FB Demi" panose="020E08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and Assembly</a:t>
                </a:r>
              </a:p>
            </p:txBody>
          </p:sp>
        </p:grp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FCEA2364-665E-0EE9-9658-ACC7D4F8F3A9}"/>
                </a:ext>
              </a:extLst>
            </p:cNvPr>
            <p:cNvSpPr/>
            <p:nvPr/>
          </p:nvSpPr>
          <p:spPr>
            <a:xfrm rot="5400000">
              <a:off x="6974579" y="610965"/>
              <a:ext cx="830627" cy="269124"/>
            </a:xfrm>
            <a:prstGeom prst="triangl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F37791B-EA3C-9C51-85D7-DB0687D28F8F}"/>
              </a:ext>
            </a:extLst>
          </p:cNvPr>
          <p:cNvGrpSpPr/>
          <p:nvPr/>
        </p:nvGrpSpPr>
        <p:grpSpPr>
          <a:xfrm>
            <a:off x="347970" y="0"/>
            <a:ext cx="2732348" cy="6858000"/>
            <a:chOff x="2387196" y="0"/>
            <a:chExt cx="2732348" cy="68580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73FF72C-853F-5378-E641-4FC9ADB047A2}"/>
                </a:ext>
              </a:extLst>
            </p:cNvPr>
            <p:cNvGrpSpPr/>
            <p:nvPr/>
          </p:nvGrpSpPr>
          <p:grpSpPr>
            <a:xfrm>
              <a:off x="2387196" y="0"/>
              <a:ext cx="2451204" cy="6858000"/>
              <a:chOff x="2387196" y="0"/>
              <a:chExt cx="2451204" cy="68580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DC53B97-580A-1D0C-B8C6-EA9EDDA12241}"/>
                  </a:ext>
                </a:extLst>
              </p:cNvPr>
              <p:cNvSpPr/>
              <p:nvPr/>
            </p:nvSpPr>
            <p:spPr>
              <a:xfrm>
                <a:off x="2419200" y="0"/>
                <a:ext cx="2419200" cy="6858000"/>
              </a:xfrm>
              <a:prstGeom prst="rect">
                <a:avLst/>
              </a:prstGeom>
              <a:solidFill>
                <a:srgbClr val="6DD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73193C7-F6B5-C039-5135-39860E73D3BB}"/>
                  </a:ext>
                </a:extLst>
              </p:cNvPr>
              <p:cNvSpPr txBox="1"/>
              <p:nvPr/>
            </p:nvSpPr>
            <p:spPr>
              <a:xfrm>
                <a:off x="2925828" y="407774"/>
                <a:ext cx="1186248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5000" dirty="0">
                    <a:solidFill>
                      <a:schemeClr val="bg1">
                        <a:lumMod val="95000"/>
                      </a:schemeClr>
                    </a:solidFill>
                    <a:latin typeface="Bauhaus 93" panose="04030905020B02020C02" pitchFamily="82" charset="0"/>
                    <a:ea typeface="Microsoft YaHei" panose="020B0503020204020204" pitchFamily="34" charset="-122"/>
                  </a:rPr>
                  <a:t>2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E82EC62-8709-3BE8-69C4-CA5B03C74354}"/>
                  </a:ext>
                </a:extLst>
              </p:cNvPr>
              <p:cNvSpPr txBox="1"/>
              <p:nvPr/>
            </p:nvSpPr>
            <p:spPr>
              <a:xfrm>
                <a:off x="2387196" y="3389945"/>
                <a:ext cx="2254836" cy="851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IN" sz="2400" kern="100" dirty="0">
                    <a:effectLst/>
                    <a:latin typeface="Berlin Sans FB Demi" panose="020E08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Design Considerations</a:t>
                </a:r>
              </a:p>
            </p:txBody>
          </p:sp>
        </p:grp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4B15804C-1344-F05F-D22E-85D18D14C1BD}"/>
                </a:ext>
              </a:extLst>
            </p:cNvPr>
            <p:cNvSpPr/>
            <p:nvPr/>
          </p:nvSpPr>
          <p:spPr>
            <a:xfrm rot="5400000">
              <a:off x="4569668" y="610964"/>
              <a:ext cx="830627" cy="269124"/>
            </a:xfrm>
            <a:prstGeom prst="triangle">
              <a:avLst/>
            </a:prstGeom>
            <a:solidFill>
              <a:srgbClr val="6DD9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57BF4A6-F771-FD7C-6364-BAD26E38EC7F}"/>
              </a:ext>
            </a:extLst>
          </p:cNvPr>
          <p:cNvGrpSpPr/>
          <p:nvPr/>
        </p:nvGrpSpPr>
        <p:grpSpPr>
          <a:xfrm>
            <a:off x="0" y="0"/>
            <a:ext cx="2687190" cy="6858000"/>
            <a:chOff x="0" y="0"/>
            <a:chExt cx="2687190" cy="68580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3916A6E-E100-B513-159F-E45EF48974B7}"/>
                </a:ext>
              </a:extLst>
            </p:cNvPr>
            <p:cNvGrpSpPr/>
            <p:nvPr/>
          </p:nvGrpSpPr>
          <p:grpSpPr>
            <a:xfrm>
              <a:off x="0" y="0"/>
              <a:ext cx="2419200" cy="6858000"/>
              <a:chOff x="0" y="0"/>
              <a:chExt cx="2419200" cy="68580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CC1A652-50FA-023B-64F5-1957C1FF2CD5}"/>
                  </a:ext>
                </a:extLst>
              </p:cNvPr>
              <p:cNvSpPr/>
              <p:nvPr/>
            </p:nvSpPr>
            <p:spPr>
              <a:xfrm>
                <a:off x="0" y="0"/>
                <a:ext cx="2419200" cy="6858000"/>
              </a:xfrm>
              <a:prstGeom prst="rect">
                <a:avLst/>
              </a:prstGeom>
              <a:solidFill>
                <a:srgbClr val="AFEA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41C1B8D-768F-AA4A-2D04-D0FC9E4B8801}"/>
                  </a:ext>
                </a:extLst>
              </p:cNvPr>
              <p:cNvSpPr txBox="1"/>
              <p:nvPr/>
            </p:nvSpPr>
            <p:spPr>
              <a:xfrm>
                <a:off x="506628" y="407774"/>
                <a:ext cx="1186248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5000" dirty="0">
                    <a:solidFill>
                      <a:schemeClr val="bg1">
                        <a:lumMod val="95000"/>
                      </a:schemeClr>
                    </a:solidFill>
                    <a:latin typeface="Bauhaus 93" panose="04030905020B02020C02" pitchFamily="82" charset="0"/>
                    <a:ea typeface="Microsoft YaHei" panose="020B0503020204020204" pitchFamily="34" charset="-122"/>
                  </a:rPr>
                  <a:t>1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FC06672-3AE4-2D64-DC8A-FDCD2072BFD5}"/>
                  </a:ext>
                </a:extLst>
              </p:cNvPr>
              <p:cNvSpPr txBox="1"/>
              <p:nvPr/>
            </p:nvSpPr>
            <p:spPr>
              <a:xfrm>
                <a:off x="333632" y="3429000"/>
                <a:ext cx="1865871" cy="16416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IN" sz="2400" kern="100" dirty="0">
                    <a:effectLst/>
                    <a:latin typeface="Berlin Sans FB Demi" panose="020E08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Project Overview &amp; Problem Statement</a:t>
                </a:r>
              </a:p>
            </p:txBody>
          </p:sp>
        </p:grp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0E5E7A6B-6D03-FA87-0EFC-659F47B4A5C9}"/>
                </a:ext>
              </a:extLst>
            </p:cNvPr>
            <p:cNvSpPr/>
            <p:nvPr/>
          </p:nvSpPr>
          <p:spPr>
            <a:xfrm rot="5400000">
              <a:off x="2137314" y="610965"/>
              <a:ext cx="830627" cy="269124"/>
            </a:xfrm>
            <a:prstGeom prst="triangle">
              <a:avLst/>
            </a:prstGeom>
            <a:solidFill>
              <a:srgbClr val="AFEA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45013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33AF4-A7B1-047D-B5EB-4E13E004C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D060001A-38D9-51AD-6E16-9FD8CEA81608}"/>
              </a:ext>
            </a:extLst>
          </p:cNvPr>
          <p:cNvSpPr txBox="1"/>
          <p:nvPr/>
        </p:nvSpPr>
        <p:spPr>
          <a:xfrm>
            <a:off x="6573892" y="1608101"/>
            <a:ext cx="56181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0" dirty="0">
                <a:solidFill>
                  <a:schemeClr val="bg1"/>
                </a:solidFill>
                <a:latin typeface="Cooper Black" panose="0208090404030B020404" pitchFamily="18" charset="0"/>
              </a:rPr>
              <a:t>FIVE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DD4732-FA29-65D6-262B-78652FE5FB21}"/>
              </a:ext>
            </a:extLst>
          </p:cNvPr>
          <p:cNvSpPr txBox="1"/>
          <p:nvPr/>
        </p:nvSpPr>
        <p:spPr>
          <a:xfrm>
            <a:off x="8014720" y="3124538"/>
            <a:ext cx="3447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FFFF00"/>
                </a:solidFill>
                <a:latin typeface="Bradley Hand ITC" panose="03070402050302030203" pitchFamily="66" charset="0"/>
              </a:rPr>
              <a:t>STEPS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E49B8A9-910A-A204-AC40-E110C858C82E}"/>
              </a:ext>
            </a:extLst>
          </p:cNvPr>
          <p:cNvSpPr/>
          <p:nvPr/>
        </p:nvSpPr>
        <p:spPr>
          <a:xfrm>
            <a:off x="268014" y="220717"/>
            <a:ext cx="4941200" cy="1308538"/>
          </a:xfrm>
          <a:prstGeom prst="roundRect">
            <a:avLst/>
          </a:prstGeom>
          <a:solidFill>
            <a:srgbClr val="3B38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77054F-33FE-241F-2F55-E0F2A3CE1E12}"/>
              </a:ext>
            </a:extLst>
          </p:cNvPr>
          <p:cNvSpPr txBox="1"/>
          <p:nvPr/>
        </p:nvSpPr>
        <p:spPr>
          <a:xfrm>
            <a:off x="525756" y="336377"/>
            <a:ext cx="47901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lgerian" panose="04020705040A02060702" pitchFamily="82" charset="0"/>
              </a:rPr>
              <a:t>Project Overview &amp; Problem Statement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6384047-6972-FF56-186E-53F0FAAEAD28}"/>
              </a:ext>
            </a:extLst>
          </p:cNvPr>
          <p:cNvGrpSpPr/>
          <p:nvPr/>
        </p:nvGrpSpPr>
        <p:grpSpPr>
          <a:xfrm>
            <a:off x="9674531" y="0"/>
            <a:ext cx="2515200" cy="6858000"/>
            <a:chOff x="9676800" y="0"/>
            <a:chExt cx="2515200" cy="68580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91BD497-B95D-D37B-C355-A26E73111FF0}"/>
                </a:ext>
              </a:extLst>
            </p:cNvPr>
            <p:cNvSpPr/>
            <p:nvPr/>
          </p:nvSpPr>
          <p:spPr>
            <a:xfrm>
              <a:off x="9676800" y="0"/>
              <a:ext cx="2515200" cy="6858000"/>
            </a:xfrm>
            <a:prstGeom prst="rect">
              <a:avLst/>
            </a:prstGeom>
            <a:solidFill>
              <a:srgbClr val="00537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560861-04AB-54A6-334A-F982D070ECF8}"/>
                </a:ext>
              </a:extLst>
            </p:cNvPr>
            <p:cNvSpPr txBox="1"/>
            <p:nvPr/>
          </p:nvSpPr>
          <p:spPr>
            <a:xfrm>
              <a:off x="10339233" y="407774"/>
              <a:ext cx="1186248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0" dirty="0">
                  <a:solidFill>
                    <a:schemeClr val="bg1">
                      <a:lumMod val="95000"/>
                    </a:schemeClr>
                  </a:solidFill>
                  <a:latin typeface="Bauhaus 93" panose="04030905020B02020C02" pitchFamily="82" charset="0"/>
                  <a:ea typeface="Microsoft YaHei" panose="020B0503020204020204" pitchFamily="34" charset="-122"/>
                </a:rPr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2080FF-B953-5A9B-FEFD-D7C5BD8B1425}"/>
                </a:ext>
              </a:extLst>
            </p:cNvPr>
            <p:cNvSpPr txBox="1"/>
            <p:nvPr/>
          </p:nvSpPr>
          <p:spPr>
            <a:xfrm>
              <a:off x="10013854" y="3369107"/>
              <a:ext cx="2178146" cy="9538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2400" kern="100" dirty="0">
                  <a:effectLst/>
                  <a:latin typeface="Berlin Sans FB Demi" panose="020E0802020502020306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Conclusion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IN" sz="2400" kern="100" dirty="0">
                <a:effectLst/>
                <a:latin typeface="Berlin Sans FB Demi" panose="020E0802020502020306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A6A71DC-BAF5-0086-50EF-67EA0CBDEAED}"/>
              </a:ext>
            </a:extLst>
          </p:cNvPr>
          <p:cNvGrpSpPr/>
          <p:nvPr/>
        </p:nvGrpSpPr>
        <p:grpSpPr>
          <a:xfrm>
            <a:off x="7257600" y="0"/>
            <a:ext cx="2686056" cy="6858000"/>
            <a:chOff x="7257600" y="0"/>
            <a:chExt cx="2686056" cy="68580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493DC0A-AA52-49F7-9C52-FE7BDA44021D}"/>
                </a:ext>
              </a:extLst>
            </p:cNvPr>
            <p:cNvGrpSpPr/>
            <p:nvPr/>
          </p:nvGrpSpPr>
          <p:grpSpPr>
            <a:xfrm>
              <a:off x="7257600" y="0"/>
              <a:ext cx="2552628" cy="6858000"/>
              <a:chOff x="7257600" y="0"/>
              <a:chExt cx="2552628" cy="68580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41EE2D7-B334-7D2B-B00D-E651DA47B8FE}"/>
                  </a:ext>
                </a:extLst>
              </p:cNvPr>
              <p:cNvSpPr/>
              <p:nvPr/>
            </p:nvSpPr>
            <p:spPr>
              <a:xfrm>
                <a:off x="7257600" y="0"/>
                <a:ext cx="2419200" cy="6858000"/>
              </a:xfrm>
              <a:prstGeom prst="rect">
                <a:avLst/>
              </a:prstGeom>
              <a:solidFill>
                <a:srgbClr val="0097C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86B984-46CB-E11F-3275-9A13CD40F400}"/>
                  </a:ext>
                </a:extLst>
              </p:cNvPr>
              <p:cNvSpPr txBox="1"/>
              <p:nvPr/>
            </p:nvSpPr>
            <p:spPr>
              <a:xfrm>
                <a:off x="7874076" y="407774"/>
                <a:ext cx="1186248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5000" dirty="0">
                    <a:solidFill>
                      <a:schemeClr val="bg1">
                        <a:lumMod val="95000"/>
                      </a:schemeClr>
                    </a:solidFill>
                    <a:latin typeface="Bauhaus 93" panose="04030905020B02020C02" pitchFamily="82" charset="0"/>
                    <a:ea typeface="Microsoft YaHei" panose="020B0503020204020204" pitchFamily="34" charset="-122"/>
                  </a:rPr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A748444-A420-C9E8-F093-107F48AD86B5}"/>
                  </a:ext>
                </a:extLst>
              </p:cNvPr>
              <p:cNvSpPr txBox="1"/>
              <p:nvPr/>
            </p:nvSpPr>
            <p:spPr>
              <a:xfrm>
                <a:off x="7344440" y="3369107"/>
                <a:ext cx="2465788" cy="456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IN" sz="2400" kern="100" dirty="0">
                    <a:effectLst/>
                    <a:latin typeface="Berlin Sans FB Demi" panose="020E08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Calculations</a:t>
                </a:r>
              </a:p>
            </p:txBody>
          </p:sp>
        </p:grp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FB508DBF-7DFD-E2C3-882E-1E1504DB68BC}"/>
                </a:ext>
              </a:extLst>
            </p:cNvPr>
            <p:cNvSpPr/>
            <p:nvPr/>
          </p:nvSpPr>
          <p:spPr>
            <a:xfrm rot="5400000">
              <a:off x="9393780" y="610965"/>
              <a:ext cx="830627" cy="269124"/>
            </a:xfrm>
            <a:prstGeom prst="triangle">
              <a:avLst/>
            </a:prstGeom>
            <a:solidFill>
              <a:srgbClr val="0097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E299FCD-6011-04A5-4BFE-3A14193CF10C}"/>
              </a:ext>
            </a:extLst>
          </p:cNvPr>
          <p:cNvGrpSpPr/>
          <p:nvPr/>
        </p:nvGrpSpPr>
        <p:grpSpPr>
          <a:xfrm>
            <a:off x="4838400" y="0"/>
            <a:ext cx="2686055" cy="6858000"/>
            <a:chOff x="4838400" y="0"/>
            <a:chExt cx="2686055" cy="68580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E4FAEB1-F5AC-D556-E08A-B4AA845CDF50}"/>
                </a:ext>
              </a:extLst>
            </p:cNvPr>
            <p:cNvGrpSpPr/>
            <p:nvPr/>
          </p:nvGrpSpPr>
          <p:grpSpPr>
            <a:xfrm>
              <a:off x="4838400" y="0"/>
              <a:ext cx="2419200" cy="6858000"/>
              <a:chOff x="4838400" y="0"/>
              <a:chExt cx="2419200" cy="68580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8B0D4C2-157B-53EB-7C37-570FC17853FF}"/>
                  </a:ext>
                </a:extLst>
              </p:cNvPr>
              <p:cNvSpPr/>
              <p:nvPr/>
            </p:nvSpPr>
            <p:spPr>
              <a:xfrm>
                <a:off x="4838400" y="0"/>
                <a:ext cx="2419200" cy="685800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94C2FC-FF38-3B9C-84F5-CBB2186C29EF}"/>
                  </a:ext>
                </a:extLst>
              </p:cNvPr>
              <p:cNvSpPr txBox="1"/>
              <p:nvPr/>
            </p:nvSpPr>
            <p:spPr>
              <a:xfrm>
                <a:off x="5502876" y="407774"/>
                <a:ext cx="1186248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5000" dirty="0">
                    <a:solidFill>
                      <a:schemeClr val="bg1">
                        <a:lumMod val="95000"/>
                      </a:schemeClr>
                    </a:solidFill>
                    <a:latin typeface="Bauhaus 93" panose="04030905020B02020C02" pitchFamily="82" charset="0"/>
                    <a:ea typeface="Microsoft YaHei" panose="020B0503020204020204" pitchFamily="34" charset="-122"/>
                  </a:rPr>
                  <a:t>3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1B9693-A9B5-887D-D45D-80EEA4DD4904}"/>
                  </a:ext>
                </a:extLst>
              </p:cNvPr>
              <p:cNvSpPr txBox="1"/>
              <p:nvPr/>
            </p:nvSpPr>
            <p:spPr>
              <a:xfrm>
                <a:off x="5005261" y="3350800"/>
                <a:ext cx="2235780" cy="851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IN" sz="2400" kern="100" dirty="0" err="1">
                    <a:effectLst/>
                    <a:latin typeface="Berlin Sans FB Demi" panose="020E08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Modeling</a:t>
                </a:r>
                <a:r>
                  <a:rPr lang="en-IN" sz="2400" kern="100" dirty="0">
                    <a:effectLst/>
                    <a:latin typeface="Berlin Sans FB Demi" panose="020E08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and Assembly</a:t>
                </a:r>
              </a:p>
            </p:txBody>
          </p:sp>
        </p:grp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225A21A3-BE99-30E8-75E3-BD1A9B3D1D15}"/>
                </a:ext>
              </a:extLst>
            </p:cNvPr>
            <p:cNvSpPr/>
            <p:nvPr/>
          </p:nvSpPr>
          <p:spPr>
            <a:xfrm rot="5400000">
              <a:off x="6974579" y="610965"/>
              <a:ext cx="830627" cy="269124"/>
            </a:xfrm>
            <a:prstGeom prst="triangl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56F7E48-3EFD-6B53-A334-DA6925524973}"/>
              </a:ext>
            </a:extLst>
          </p:cNvPr>
          <p:cNvGrpSpPr/>
          <p:nvPr/>
        </p:nvGrpSpPr>
        <p:grpSpPr>
          <a:xfrm>
            <a:off x="2414184" y="0"/>
            <a:ext cx="2705360" cy="6858000"/>
            <a:chOff x="2414184" y="0"/>
            <a:chExt cx="2705360" cy="68580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22C6A8F-7B5D-B6B6-F198-E16036E4DB9D}"/>
                </a:ext>
              </a:extLst>
            </p:cNvPr>
            <p:cNvGrpSpPr/>
            <p:nvPr/>
          </p:nvGrpSpPr>
          <p:grpSpPr>
            <a:xfrm>
              <a:off x="2414184" y="0"/>
              <a:ext cx="2424216" cy="6858000"/>
              <a:chOff x="2414184" y="0"/>
              <a:chExt cx="2424216" cy="68580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F154EAA-C498-06DE-FE58-1EDA40459794}"/>
                  </a:ext>
                </a:extLst>
              </p:cNvPr>
              <p:cNvSpPr/>
              <p:nvPr/>
            </p:nvSpPr>
            <p:spPr>
              <a:xfrm>
                <a:off x="2419200" y="0"/>
                <a:ext cx="2419200" cy="6858000"/>
              </a:xfrm>
              <a:prstGeom prst="rect">
                <a:avLst/>
              </a:prstGeom>
              <a:solidFill>
                <a:srgbClr val="6DD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59BBFF-0D1A-1386-8163-51C0A90FC0F7}"/>
                  </a:ext>
                </a:extLst>
              </p:cNvPr>
              <p:cNvSpPr txBox="1"/>
              <p:nvPr/>
            </p:nvSpPr>
            <p:spPr>
              <a:xfrm>
                <a:off x="2925828" y="407774"/>
                <a:ext cx="1186248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5000" dirty="0">
                    <a:solidFill>
                      <a:schemeClr val="bg1">
                        <a:lumMod val="95000"/>
                      </a:schemeClr>
                    </a:solidFill>
                    <a:latin typeface="Bauhaus 93" panose="04030905020B02020C02" pitchFamily="82" charset="0"/>
                    <a:ea typeface="Microsoft YaHei" panose="020B0503020204020204" pitchFamily="34" charset="-122"/>
                  </a:rPr>
                  <a:t>2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0C087A7-AC5F-CB8C-4D07-7383AD34D29A}"/>
                  </a:ext>
                </a:extLst>
              </p:cNvPr>
              <p:cNvSpPr txBox="1"/>
              <p:nvPr/>
            </p:nvSpPr>
            <p:spPr>
              <a:xfrm>
                <a:off x="2414184" y="3398542"/>
                <a:ext cx="2187960" cy="851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IN" sz="2400" kern="100" dirty="0">
                    <a:effectLst/>
                    <a:latin typeface="Berlin Sans FB Demi" panose="020E08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Design Considerations</a:t>
                </a:r>
              </a:p>
            </p:txBody>
          </p:sp>
        </p:grp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D6FFBFDF-7A71-B1B1-AD0F-1ABA2EA42DD5}"/>
                </a:ext>
              </a:extLst>
            </p:cNvPr>
            <p:cNvSpPr/>
            <p:nvPr/>
          </p:nvSpPr>
          <p:spPr>
            <a:xfrm rot="5400000">
              <a:off x="4569668" y="610964"/>
              <a:ext cx="830627" cy="269124"/>
            </a:xfrm>
            <a:prstGeom prst="triangle">
              <a:avLst/>
            </a:prstGeom>
            <a:solidFill>
              <a:srgbClr val="6DD9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EE9D063-88B0-E3CE-E9DA-B609C700CA09}"/>
              </a:ext>
            </a:extLst>
          </p:cNvPr>
          <p:cNvGrpSpPr/>
          <p:nvPr/>
        </p:nvGrpSpPr>
        <p:grpSpPr>
          <a:xfrm>
            <a:off x="0" y="0"/>
            <a:ext cx="2687190" cy="6858000"/>
            <a:chOff x="0" y="0"/>
            <a:chExt cx="2687190" cy="68580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40E1FA3-6961-132A-F889-87511046DF1E}"/>
                </a:ext>
              </a:extLst>
            </p:cNvPr>
            <p:cNvGrpSpPr/>
            <p:nvPr/>
          </p:nvGrpSpPr>
          <p:grpSpPr>
            <a:xfrm>
              <a:off x="0" y="0"/>
              <a:ext cx="2419200" cy="6858000"/>
              <a:chOff x="0" y="0"/>
              <a:chExt cx="2419200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D01C1C5-58B2-28F3-B33E-962A6DF18B12}"/>
                  </a:ext>
                </a:extLst>
              </p:cNvPr>
              <p:cNvSpPr/>
              <p:nvPr/>
            </p:nvSpPr>
            <p:spPr>
              <a:xfrm>
                <a:off x="0" y="0"/>
                <a:ext cx="2419200" cy="6858000"/>
              </a:xfrm>
              <a:prstGeom prst="rect">
                <a:avLst/>
              </a:prstGeom>
              <a:solidFill>
                <a:srgbClr val="AFEA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015C4D-7D9A-03B5-C6F3-375E46B70DE8}"/>
                  </a:ext>
                </a:extLst>
              </p:cNvPr>
              <p:cNvSpPr txBox="1"/>
              <p:nvPr/>
            </p:nvSpPr>
            <p:spPr>
              <a:xfrm>
                <a:off x="506628" y="407774"/>
                <a:ext cx="1186248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5000" dirty="0">
                    <a:solidFill>
                      <a:schemeClr val="bg1">
                        <a:lumMod val="95000"/>
                      </a:schemeClr>
                    </a:solidFill>
                    <a:latin typeface="Bauhaus 93" panose="04030905020B02020C02" pitchFamily="82" charset="0"/>
                    <a:ea typeface="Microsoft YaHei" panose="020B0503020204020204" pitchFamily="34" charset="-122"/>
                  </a:rPr>
                  <a:t>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BB8BF7-C212-05A2-8487-91673373F947}"/>
                  </a:ext>
                </a:extLst>
              </p:cNvPr>
              <p:cNvSpPr txBox="1"/>
              <p:nvPr/>
            </p:nvSpPr>
            <p:spPr>
              <a:xfrm>
                <a:off x="333632" y="3429000"/>
                <a:ext cx="1865871" cy="16416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IN" sz="2400" kern="100" dirty="0">
                    <a:effectLst/>
                    <a:latin typeface="Berlin Sans FB Demi" panose="020E08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Project Overview &amp; Problem Statement</a:t>
                </a:r>
              </a:p>
            </p:txBody>
          </p:sp>
        </p:grp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C1D88597-C3D3-CF90-419C-EA8150AAA0BB}"/>
                </a:ext>
              </a:extLst>
            </p:cNvPr>
            <p:cNvSpPr/>
            <p:nvPr/>
          </p:nvSpPr>
          <p:spPr>
            <a:xfrm rot="5400000">
              <a:off x="2137314" y="610965"/>
              <a:ext cx="830627" cy="269124"/>
            </a:xfrm>
            <a:prstGeom prst="triangle">
              <a:avLst/>
            </a:prstGeom>
            <a:solidFill>
              <a:srgbClr val="AFEA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56682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2626E6F1-93B8-A0F5-AA0E-676F99317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00" y="2119745"/>
            <a:ext cx="8473270" cy="400403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A458B4-1774-44DA-5C83-F2DE4EEBBDDA}"/>
              </a:ext>
            </a:extLst>
          </p:cNvPr>
          <p:cNvSpPr/>
          <p:nvPr/>
        </p:nvSpPr>
        <p:spPr>
          <a:xfrm>
            <a:off x="268014" y="220717"/>
            <a:ext cx="4941200" cy="1308538"/>
          </a:xfrm>
          <a:prstGeom prst="roundRect">
            <a:avLst/>
          </a:prstGeom>
          <a:solidFill>
            <a:srgbClr val="3B38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F9119E-F0C9-0926-0712-4F5BFDAB3C58}"/>
              </a:ext>
            </a:extLst>
          </p:cNvPr>
          <p:cNvSpPr txBox="1"/>
          <p:nvPr/>
        </p:nvSpPr>
        <p:spPr>
          <a:xfrm>
            <a:off x="525756" y="336377"/>
            <a:ext cx="47901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lgerian" panose="04020705040A02060702" pitchFamily="82" charset="0"/>
              </a:rPr>
              <a:t>Project Overview &amp; Problem Statement</a:t>
            </a:r>
          </a:p>
        </p:txBody>
      </p:sp>
      <p:pic>
        <p:nvPicPr>
          <p:cNvPr id="36" name="Picture 2" descr="Manual Scissor Lift Table, Working Height: 20 feet, 500 kg at ₹ 40000 in  Pune">
            <a:extLst>
              <a:ext uri="{FF2B5EF4-FFF2-40B4-BE49-F238E27FC236}">
                <a16:creationId xmlns:a16="http://schemas.microsoft.com/office/drawing/2014/main" id="{3BE343C6-44E9-0A3B-C380-13233CFDF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3669" y="1961157"/>
            <a:ext cx="3408331" cy="3880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631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E2FB0-5B7D-5CA9-0C30-DBD1C21A8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E6F10F-24A9-388A-040B-62135A879A1D}"/>
              </a:ext>
            </a:extLst>
          </p:cNvPr>
          <p:cNvSpPr/>
          <p:nvPr/>
        </p:nvSpPr>
        <p:spPr>
          <a:xfrm>
            <a:off x="268014" y="220717"/>
            <a:ext cx="4941200" cy="1308538"/>
          </a:xfrm>
          <a:prstGeom prst="roundRect">
            <a:avLst/>
          </a:prstGeom>
          <a:solidFill>
            <a:srgbClr val="3B38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759B5-3312-CD6C-647B-4EA891CCD7F9}"/>
              </a:ext>
            </a:extLst>
          </p:cNvPr>
          <p:cNvSpPr txBox="1"/>
          <p:nvPr/>
        </p:nvSpPr>
        <p:spPr>
          <a:xfrm>
            <a:off x="525756" y="336377"/>
            <a:ext cx="47901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lgerian" panose="04020705040A02060702" pitchFamily="82" charset="0"/>
              </a:rPr>
              <a:t>Project Overview &amp; 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B8FE0C-2758-EF79-8ADA-8CD8238FA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55" y="1905738"/>
            <a:ext cx="7689989" cy="4341473"/>
          </a:xfrm>
          <a:prstGeom prst="rect">
            <a:avLst/>
          </a:prstGeom>
        </p:spPr>
      </p:pic>
      <p:pic>
        <p:nvPicPr>
          <p:cNvPr id="4" name="Picture 2" descr="Manual Scissor Lift Table, Working Height: 20 feet, 500 kg at ₹ 40000 in  Pune">
            <a:extLst>
              <a:ext uri="{FF2B5EF4-FFF2-40B4-BE49-F238E27FC236}">
                <a16:creationId xmlns:a16="http://schemas.microsoft.com/office/drawing/2014/main" id="{2B3D44EC-6AEF-7AEC-7E39-C92D30551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3669" y="1961157"/>
            <a:ext cx="3408331" cy="3880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089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95631-E5DB-6F6C-4D49-8AA11D150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05E2FE-97F6-2637-2993-E9476FAA504D}"/>
              </a:ext>
            </a:extLst>
          </p:cNvPr>
          <p:cNvSpPr/>
          <p:nvPr/>
        </p:nvSpPr>
        <p:spPr>
          <a:xfrm>
            <a:off x="268014" y="220717"/>
            <a:ext cx="5370786" cy="818374"/>
          </a:xfrm>
          <a:prstGeom prst="roundRect">
            <a:avLst/>
          </a:prstGeom>
          <a:solidFill>
            <a:srgbClr val="3B38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7DD730-84B4-C098-97DB-8BD64D630559}"/>
              </a:ext>
            </a:extLst>
          </p:cNvPr>
          <p:cNvSpPr txBox="1"/>
          <p:nvPr/>
        </p:nvSpPr>
        <p:spPr>
          <a:xfrm>
            <a:off x="525756" y="336377"/>
            <a:ext cx="5376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lgerian" panose="04020705040A02060702" pitchFamily="82" charset="0"/>
              </a:rPr>
              <a:t>Design Considerations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383CC9-A1D7-3446-C0FC-D54CA15CC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56" y="1371216"/>
            <a:ext cx="11006101" cy="496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979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DA1E5-35AA-A7BC-D316-415E07509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5EE7C45-23D2-A4A8-C516-324D69B5C1B9}"/>
              </a:ext>
            </a:extLst>
          </p:cNvPr>
          <p:cNvSpPr/>
          <p:nvPr/>
        </p:nvSpPr>
        <p:spPr>
          <a:xfrm>
            <a:off x="268014" y="220717"/>
            <a:ext cx="5370786" cy="818374"/>
          </a:xfrm>
          <a:prstGeom prst="roundRect">
            <a:avLst/>
          </a:prstGeom>
          <a:solidFill>
            <a:srgbClr val="3B38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B63AC7-FC20-EC82-E885-AFA6988FFF65}"/>
              </a:ext>
            </a:extLst>
          </p:cNvPr>
          <p:cNvSpPr txBox="1"/>
          <p:nvPr/>
        </p:nvSpPr>
        <p:spPr>
          <a:xfrm>
            <a:off x="525756" y="336377"/>
            <a:ext cx="5376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lgerian" panose="04020705040A02060702" pitchFamily="82" charset="0"/>
              </a:rPr>
              <a:t>Design Considerations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ACFE4-B4D4-0202-DB78-2F2710FCC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64" y="1466105"/>
            <a:ext cx="11134272" cy="330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439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B4B66-B34B-4F90-D3C0-2F5B217D6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8" name="3D Model 17">
                <a:extLst>
                  <a:ext uri="{FF2B5EF4-FFF2-40B4-BE49-F238E27FC236}">
                    <a16:creationId xmlns:a16="http://schemas.microsoft.com/office/drawing/2014/main" id="{2F473C6B-EB57-F7F3-B68D-70C7A20838F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96156742"/>
                  </p:ext>
                </p:extLst>
              </p:nvPr>
            </p:nvGraphicFramePr>
            <p:xfrm rot="16200000">
              <a:off x="6952302" y="903114"/>
              <a:ext cx="3971694" cy="5066419"/>
            </p:xfrm>
            <a:graphic>
              <a:graphicData uri="http://schemas.microsoft.com/office/drawing/2017/model3d">
                <am3d:model3d r:embed="rId2">
                  <am3d:spPr>
                    <a:xfrm rot="16200000">
                      <a:off x="0" y="0"/>
                      <a:ext cx="3971694" cy="5066419"/>
                    </a:xfrm>
                    <a:prstGeom prst="rect">
                      <a:avLst/>
                    </a:prstGeom>
                  </am3d:spPr>
                  <am3d:camera>
                    <am3d:pos x="0" y="0" z="613647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79330" d="1000000"/>
                    <am3d:preTrans dx="39054212" dy="-3537462" dz="7089004"/>
                    <am3d:scale>
                      <am3d:sx n="1000000" d="1000000"/>
                      <am3d:sy n="1000000" d="1000000"/>
                      <am3d:sz n="1000000" d="1000000"/>
                    </am3d:scale>
                    <am3d:rot ax="5001954" ay="3199394" az="4904911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645566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8" name="3D Model 17">
                <a:extLst>
                  <a:ext uri="{FF2B5EF4-FFF2-40B4-BE49-F238E27FC236}">
                    <a16:creationId xmlns:a16="http://schemas.microsoft.com/office/drawing/2014/main" id="{2F473C6B-EB57-F7F3-B68D-70C7A20838F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6200000">
                <a:off x="6952302" y="903114"/>
                <a:ext cx="3971694" cy="5066419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CD2ED4E-7F65-2E11-13D6-1D977839B486}"/>
              </a:ext>
            </a:extLst>
          </p:cNvPr>
          <p:cNvSpPr/>
          <p:nvPr/>
        </p:nvSpPr>
        <p:spPr>
          <a:xfrm>
            <a:off x="-284136" y="-132583"/>
            <a:ext cx="12476136" cy="7137817"/>
          </a:xfrm>
          <a:custGeom>
            <a:avLst/>
            <a:gdLst>
              <a:gd name="connsiteX0" fmla="*/ 7603531 w 12476136"/>
              <a:gd name="connsiteY0" fmla="*/ 403803 h 7137817"/>
              <a:gd name="connsiteX1" fmla="*/ 6707466 w 12476136"/>
              <a:gd name="connsiteY1" fmla="*/ 1299868 h 7137817"/>
              <a:gd name="connsiteX2" fmla="*/ 6707466 w 12476136"/>
              <a:gd name="connsiteY2" fmla="*/ 5862043 h 7137817"/>
              <a:gd name="connsiteX3" fmla="*/ 7603531 w 12476136"/>
              <a:gd name="connsiteY3" fmla="*/ 6758108 h 7137817"/>
              <a:gd name="connsiteX4" fmla="*/ 11187681 w 12476136"/>
              <a:gd name="connsiteY4" fmla="*/ 6758108 h 7137817"/>
              <a:gd name="connsiteX5" fmla="*/ 12083746 w 12476136"/>
              <a:gd name="connsiteY5" fmla="*/ 5862043 h 7137817"/>
              <a:gd name="connsiteX6" fmla="*/ 12083746 w 12476136"/>
              <a:gd name="connsiteY6" fmla="*/ 1299868 h 7137817"/>
              <a:gd name="connsiteX7" fmla="*/ 11187681 w 12476136"/>
              <a:gd name="connsiteY7" fmla="*/ 403803 h 7137817"/>
              <a:gd name="connsiteX8" fmla="*/ 0 w 12476136"/>
              <a:gd name="connsiteY8" fmla="*/ 0 h 7137817"/>
              <a:gd name="connsiteX9" fmla="*/ 12476136 w 12476136"/>
              <a:gd name="connsiteY9" fmla="*/ 0 h 7137817"/>
              <a:gd name="connsiteX10" fmla="*/ 12476136 w 12476136"/>
              <a:gd name="connsiteY10" fmla="*/ 7137817 h 7137817"/>
              <a:gd name="connsiteX11" fmla="*/ 0 w 12476136"/>
              <a:gd name="connsiteY11" fmla="*/ 7137817 h 713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476136" h="7137817">
                <a:moveTo>
                  <a:pt x="7603531" y="403803"/>
                </a:moveTo>
                <a:cubicBezTo>
                  <a:pt x="7108648" y="403803"/>
                  <a:pt x="6707466" y="804985"/>
                  <a:pt x="6707466" y="1299868"/>
                </a:cubicBezTo>
                <a:lnTo>
                  <a:pt x="6707466" y="5862043"/>
                </a:lnTo>
                <a:cubicBezTo>
                  <a:pt x="6707466" y="6356926"/>
                  <a:pt x="7108648" y="6758108"/>
                  <a:pt x="7603531" y="6758108"/>
                </a:cubicBezTo>
                <a:lnTo>
                  <a:pt x="11187681" y="6758108"/>
                </a:lnTo>
                <a:cubicBezTo>
                  <a:pt x="11682564" y="6758108"/>
                  <a:pt x="12083746" y="6356926"/>
                  <a:pt x="12083746" y="5862043"/>
                </a:cubicBezTo>
                <a:lnTo>
                  <a:pt x="12083746" y="1299868"/>
                </a:lnTo>
                <a:cubicBezTo>
                  <a:pt x="12083746" y="804985"/>
                  <a:pt x="11682564" y="403803"/>
                  <a:pt x="11187681" y="403803"/>
                </a:cubicBezTo>
                <a:close/>
                <a:moveTo>
                  <a:pt x="0" y="0"/>
                </a:moveTo>
                <a:lnTo>
                  <a:pt x="12476136" y="0"/>
                </a:lnTo>
                <a:lnTo>
                  <a:pt x="12476136" y="7137817"/>
                </a:lnTo>
                <a:lnTo>
                  <a:pt x="0" y="7137817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DDF3C1C-A51C-641C-01FA-09B84B25CC66}"/>
              </a:ext>
            </a:extLst>
          </p:cNvPr>
          <p:cNvGrpSpPr/>
          <p:nvPr/>
        </p:nvGrpSpPr>
        <p:grpSpPr>
          <a:xfrm>
            <a:off x="152400" y="259172"/>
            <a:ext cx="5376280" cy="6354305"/>
            <a:chOff x="152400" y="259172"/>
            <a:chExt cx="5376280" cy="635430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2065214-43C7-A06E-82C6-E6F8E4580B52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A5B380A-DC94-8543-B085-2153CE13D007}"/>
                </a:ext>
              </a:extLst>
            </p:cNvPr>
            <p:cNvGrpSpPr/>
            <p:nvPr/>
          </p:nvGrpSpPr>
          <p:grpSpPr>
            <a:xfrm>
              <a:off x="720642" y="852485"/>
              <a:ext cx="4239796" cy="712844"/>
              <a:chOff x="268014" y="220717"/>
              <a:chExt cx="5481622" cy="818374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68A2EB20-A145-AC8A-5D09-0CBF80445912}"/>
                  </a:ext>
                </a:extLst>
              </p:cNvPr>
              <p:cNvSpPr/>
              <p:nvPr/>
            </p:nvSpPr>
            <p:spPr>
              <a:xfrm>
                <a:off x="268014" y="220717"/>
                <a:ext cx="5370786" cy="818374"/>
              </a:xfrm>
              <a:prstGeom prst="roundRect">
                <a:avLst/>
              </a:prstGeom>
              <a:solidFill>
                <a:srgbClr val="3B383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2B8930-825F-1723-0152-A38B5FDBD66D}"/>
                  </a:ext>
                </a:extLst>
              </p:cNvPr>
              <p:cNvSpPr txBox="1"/>
              <p:nvPr/>
            </p:nvSpPr>
            <p:spPr>
              <a:xfrm>
                <a:off x="373356" y="337516"/>
                <a:ext cx="53762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Algerian" panose="04020705040A02060702" pitchFamily="82" charset="0"/>
                  </a:rPr>
                  <a:t>M</a:t>
                </a:r>
                <a:r>
                  <a:rPr lang="en-IN" sz="2400" dirty="0">
                    <a:solidFill>
                      <a:schemeClr val="bg1"/>
                    </a:solidFill>
                    <a:latin typeface="Algerian" panose="04020705040A02060702" pitchFamily="82" charset="0"/>
                  </a:rPr>
                  <a:t>odeling and assembly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FB73FA9-1B57-210E-3980-DE9F79495DEE}"/>
                </a:ext>
              </a:extLst>
            </p:cNvPr>
            <p:cNvSpPr txBox="1"/>
            <p:nvPr/>
          </p:nvSpPr>
          <p:spPr>
            <a:xfrm>
              <a:off x="571500" y="1747157"/>
              <a:ext cx="4523014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Here are the CAD-modeled components that form the complete scissor lift mechanism.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These visuals help in understanding the structure, assembly process, and functional layout.</a:t>
              </a:r>
              <a:br>
                <a:rPr lang="en-US" dirty="0"/>
              </a:br>
              <a:endParaRPr lang="en-IN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BDBF6A9-E7E0-A254-4358-2D4192904E45}"/>
              </a:ext>
            </a:extLst>
          </p:cNvPr>
          <p:cNvGrpSpPr/>
          <p:nvPr/>
        </p:nvGrpSpPr>
        <p:grpSpPr>
          <a:xfrm>
            <a:off x="152400" y="7308528"/>
            <a:ext cx="5376280" cy="6354305"/>
            <a:chOff x="152400" y="259172"/>
            <a:chExt cx="5376280" cy="6354305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71CA5C2-7D16-AF96-CED1-0909CA8B6B97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33D20FD-778E-31E1-E74E-7A700CC62D7F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Provides stable top support for load distribution</a:t>
              </a:r>
              <a:br>
                <a:rPr lang="en-US" dirty="0"/>
              </a:br>
              <a:r>
                <a:rPr lang="en-US" dirty="0"/>
                <a:t>by offering a rigid mounting interface for components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AISI 1020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Chosen for its good strength and excellent machinability.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441BE2-9D61-F271-0C4B-576104642FF9}"/>
                </a:ext>
              </a:extLst>
            </p:cNvPr>
            <p:cNvSpPr txBox="1"/>
            <p:nvPr/>
          </p:nvSpPr>
          <p:spPr>
            <a:xfrm>
              <a:off x="1607732" y="506186"/>
              <a:ext cx="24656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Base Top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A934B27-65F0-10F6-5777-2E419111C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7154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1E808-B95F-4CAD-8DB5-F81BE4EB4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3D Model 18">
                <a:extLst>
                  <a:ext uri="{FF2B5EF4-FFF2-40B4-BE49-F238E27FC236}">
                    <a16:creationId xmlns:a16="http://schemas.microsoft.com/office/drawing/2014/main" id="{0994E0E1-6862-7AE7-1A74-170E44E53CE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28529920"/>
                  </p:ext>
                </p:extLst>
              </p:nvPr>
            </p:nvGraphicFramePr>
            <p:xfrm rot="16200000">
              <a:off x="7436076" y="665469"/>
              <a:ext cx="2848527" cy="5182645"/>
            </p:xfrm>
            <a:graphic>
              <a:graphicData uri="http://schemas.microsoft.com/office/drawing/2017/model3d">
                <am3d:model3d r:embed="rId3">
                  <am3d:spPr>
                    <a:xfrm rot="16200000">
                      <a:off x="0" y="0"/>
                      <a:ext cx="2848527" cy="5182645"/>
                    </a:xfrm>
                    <a:prstGeom prst="rect">
                      <a:avLst/>
                    </a:prstGeom>
                  </am3d:spPr>
                  <am3d:camera>
                    <am3d:pos x="0" y="0" z="613647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79330" d="1000000"/>
                    <am3d:preTrans dx="39054212" dy="-3537462" dz="7089004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9855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3D Model 18">
                <a:extLst>
                  <a:ext uri="{FF2B5EF4-FFF2-40B4-BE49-F238E27FC236}">
                    <a16:creationId xmlns:a16="http://schemas.microsoft.com/office/drawing/2014/main" id="{0994E0E1-6862-7AE7-1A74-170E44E53CE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6200000">
                <a:off x="7436076" y="665469"/>
                <a:ext cx="2848527" cy="5182645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FAA0A88-5122-EFF7-788A-F9D4D9B17457}"/>
              </a:ext>
            </a:extLst>
          </p:cNvPr>
          <p:cNvSpPr/>
          <p:nvPr/>
        </p:nvSpPr>
        <p:spPr>
          <a:xfrm>
            <a:off x="-284136" y="-132583"/>
            <a:ext cx="12476136" cy="7137817"/>
          </a:xfrm>
          <a:custGeom>
            <a:avLst/>
            <a:gdLst>
              <a:gd name="connsiteX0" fmla="*/ 7603531 w 12476136"/>
              <a:gd name="connsiteY0" fmla="*/ 403803 h 7137817"/>
              <a:gd name="connsiteX1" fmla="*/ 6707466 w 12476136"/>
              <a:gd name="connsiteY1" fmla="*/ 1299868 h 7137817"/>
              <a:gd name="connsiteX2" fmla="*/ 6707466 w 12476136"/>
              <a:gd name="connsiteY2" fmla="*/ 5862043 h 7137817"/>
              <a:gd name="connsiteX3" fmla="*/ 7603531 w 12476136"/>
              <a:gd name="connsiteY3" fmla="*/ 6758108 h 7137817"/>
              <a:gd name="connsiteX4" fmla="*/ 11187681 w 12476136"/>
              <a:gd name="connsiteY4" fmla="*/ 6758108 h 7137817"/>
              <a:gd name="connsiteX5" fmla="*/ 12083746 w 12476136"/>
              <a:gd name="connsiteY5" fmla="*/ 5862043 h 7137817"/>
              <a:gd name="connsiteX6" fmla="*/ 12083746 w 12476136"/>
              <a:gd name="connsiteY6" fmla="*/ 1299868 h 7137817"/>
              <a:gd name="connsiteX7" fmla="*/ 11187681 w 12476136"/>
              <a:gd name="connsiteY7" fmla="*/ 403803 h 7137817"/>
              <a:gd name="connsiteX8" fmla="*/ 0 w 12476136"/>
              <a:gd name="connsiteY8" fmla="*/ 0 h 7137817"/>
              <a:gd name="connsiteX9" fmla="*/ 12476136 w 12476136"/>
              <a:gd name="connsiteY9" fmla="*/ 0 h 7137817"/>
              <a:gd name="connsiteX10" fmla="*/ 12476136 w 12476136"/>
              <a:gd name="connsiteY10" fmla="*/ 7137817 h 7137817"/>
              <a:gd name="connsiteX11" fmla="*/ 0 w 12476136"/>
              <a:gd name="connsiteY11" fmla="*/ 7137817 h 713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476136" h="7137817">
                <a:moveTo>
                  <a:pt x="7603531" y="403803"/>
                </a:moveTo>
                <a:cubicBezTo>
                  <a:pt x="7108648" y="403803"/>
                  <a:pt x="6707466" y="804985"/>
                  <a:pt x="6707466" y="1299868"/>
                </a:cubicBezTo>
                <a:lnTo>
                  <a:pt x="6707466" y="5862043"/>
                </a:lnTo>
                <a:cubicBezTo>
                  <a:pt x="6707466" y="6356926"/>
                  <a:pt x="7108648" y="6758108"/>
                  <a:pt x="7603531" y="6758108"/>
                </a:cubicBezTo>
                <a:lnTo>
                  <a:pt x="11187681" y="6758108"/>
                </a:lnTo>
                <a:cubicBezTo>
                  <a:pt x="11682564" y="6758108"/>
                  <a:pt x="12083746" y="6356926"/>
                  <a:pt x="12083746" y="5862043"/>
                </a:cubicBezTo>
                <a:lnTo>
                  <a:pt x="12083746" y="1299868"/>
                </a:lnTo>
                <a:cubicBezTo>
                  <a:pt x="12083746" y="804985"/>
                  <a:pt x="11682564" y="403803"/>
                  <a:pt x="11187681" y="403803"/>
                </a:cubicBezTo>
                <a:close/>
                <a:moveTo>
                  <a:pt x="0" y="0"/>
                </a:moveTo>
                <a:lnTo>
                  <a:pt x="12476136" y="0"/>
                </a:lnTo>
                <a:lnTo>
                  <a:pt x="12476136" y="7137817"/>
                </a:lnTo>
                <a:lnTo>
                  <a:pt x="0" y="7137817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E8DE597-27E0-4A60-E901-748BBFBDE173}"/>
              </a:ext>
            </a:extLst>
          </p:cNvPr>
          <p:cNvGrpSpPr/>
          <p:nvPr/>
        </p:nvGrpSpPr>
        <p:grpSpPr>
          <a:xfrm>
            <a:off x="152400" y="259172"/>
            <a:ext cx="5376280" cy="6354305"/>
            <a:chOff x="152400" y="259172"/>
            <a:chExt cx="5376280" cy="635430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BEBB88F-56F5-05D1-F42E-8AA9D11F1631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0947AB-416F-71F7-AAA2-D19C9F5ED3EB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Provides stable top support for load distribution</a:t>
              </a:r>
              <a:br>
                <a:rPr lang="en-US" dirty="0"/>
              </a:br>
              <a:r>
                <a:rPr lang="en-US" dirty="0"/>
                <a:t>by offering a rigid mounting interface for components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AISI 1020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Chosen for its good strength and excellent machinability.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9ED262D-61A3-A643-7067-857274A53C25}"/>
                </a:ext>
              </a:extLst>
            </p:cNvPr>
            <p:cNvSpPr txBox="1"/>
            <p:nvPr/>
          </p:nvSpPr>
          <p:spPr>
            <a:xfrm>
              <a:off x="1607732" y="506186"/>
              <a:ext cx="24656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Base Top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CFE99A3-4797-7097-5ADD-0A8E99BE7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2A78A94-2D7E-13C5-2CCB-1ED29CE16E16}"/>
              </a:ext>
            </a:extLst>
          </p:cNvPr>
          <p:cNvGrpSpPr/>
          <p:nvPr/>
        </p:nvGrpSpPr>
        <p:grpSpPr>
          <a:xfrm>
            <a:off x="152400" y="-6871319"/>
            <a:ext cx="5376280" cy="6354305"/>
            <a:chOff x="152400" y="259172"/>
            <a:chExt cx="5376280" cy="6354305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F8CBA7E-D0AB-EF5E-8964-9EEF3ED78AFE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53C8F07-25E2-F41A-CA8D-4092C6509949}"/>
                </a:ext>
              </a:extLst>
            </p:cNvPr>
            <p:cNvGrpSpPr/>
            <p:nvPr/>
          </p:nvGrpSpPr>
          <p:grpSpPr>
            <a:xfrm>
              <a:off x="720642" y="852485"/>
              <a:ext cx="4239796" cy="712844"/>
              <a:chOff x="268014" y="220717"/>
              <a:chExt cx="5481622" cy="818374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31144167-1976-6D89-2E43-E29BE1292AC1}"/>
                  </a:ext>
                </a:extLst>
              </p:cNvPr>
              <p:cNvSpPr/>
              <p:nvPr/>
            </p:nvSpPr>
            <p:spPr>
              <a:xfrm>
                <a:off x="268014" y="220717"/>
                <a:ext cx="5370786" cy="818374"/>
              </a:xfrm>
              <a:prstGeom prst="roundRect">
                <a:avLst/>
              </a:prstGeom>
              <a:solidFill>
                <a:srgbClr val="3B383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1FBC14-21C9-A4F8-2CFB-AA431ECC8429}"/>
                  </a:ext>
                </a:extLst>
              </p:cNvPr>
              <p:cNvSpPr txBox="1"/>
              <p:nvPr/>
            </p:nvSpPr>
            <p:spPr>
              <a:xfrm>
                <a:off x="373356" y="337516"/>
                <a:ext cx="53762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Algerian" panose="04020705040A02060702" pitchFamily="82" charset="0"/>
                  </a:rPr>
                  <a:t>M</a:t>
                </a:r>
                <a:r>
                  <a:rPr lang="en-IN" sz="2400" dirty="0">
                    <a:solidFill>
                      <a:schemeClr val="bg1"/>
                    </a:solidFill>
                    <a:latin typeface="Algerian" panose="04020705040A02060702" pitchFamily="82" charset="0"/>
                  </a:rPr>
                  <a:t>odeling and assembly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4F7F5D9-DD04-1040-4BF2-149AD4CBF1A3}"/>
                </a:ext>
              </a:extLst>
            </p:cNvPr>
            <p:cNvSpPr txBox="1"/>
            <p:nvPr/>
          </p:nvSpPr>
          <p:spPr>
            <a:xfrm>
              <a:off x="571500" y="1747157"/>
              <a:ext cx="4523014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Here are the CAD-modeled components that form the complete scissor lift mechanism.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These visuals help in understanding the structure, assembly process, and functional layout.</a:t>
              </a:r>
              <a:br>
                <a:rPr lang="en-US" dirty="0"/>
              </a:br>
              <a:endParaRPr lang="en-IN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E427130-4C68-4CDB-A3AC-13A3FC2A2DFF}"/>
              </a:ext>
            </a:extLst>
          </p:cNvPr>
          <p:cNvGrpSpPr/>
          <p:nvPr/>
        </p:nvGrpSpPr>
        <p:grpSpPr>
          <a:xfrm>
            <a:off x="193138" y="7802501"/>
            <a:ext cx="5376280" cy="6354305"/>
            <a:chOff x="152400" y="259172"/>
            <a:chExt cx="5376280" cy="6354305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F88C7F5-98BB-58BD-88FB-B1392EECA05D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8082F60-0894-BD14-B69E-153B99D45ED1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313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Converts rotational motion into linear</a:t>
              </a:r>
              <a:br>
                <a:rPr lang="en-US" dirty="0"/>
              </a:br>
              <a:r>
                <a:rPr lang="en-US" dirty="0"/>
                <a:t>lifting action delivering smooth and</a:t>
              </a:r>
              <a:br>
                <a:rPr lang="en-US" dirty="0"/>
              </a:br>
              <a:r>
                <a:rPr lang="en-US" dirty="0"/>
                <a:t>controlled vertical displacement of</a:t>
              </a:r>
              <a:br>
                <a:rPr lang="en-US" dirty="0"/>
              </a:br>
              <a:r>
                <a:rPr lang="en-US" dirty="0"/>
                <a:t>the scissor mechanism.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AISI 4340 Steel, annealed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Selected for its high toughness and superior strength ideal for load-bearing shaft applications.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9E7E84D-FA99-F2DD-0CA7-1A31EC16001B}"/>
                </a:ext>
              </a:extLst>
            </p:cNvPr>
            <p:cNvSpPr txBox="1"/>
            <p:nvPr/>
          </p:nvSpPr>
          <p:spPr>
            <a:xfrm>
              <a:off x="1607732" y="506186"/>
              <a:ext cx="24656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Lead Screw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723510D-A98A-40F4-C2C6-5A745E50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6" b="596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3805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682C4-0D94-5BD1-1FB0-FF11BAC26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3D Model 18">
                <a:extLst>
                  <a:ext uri="{FF2B5EF4-FFF2-40B4-BE49-F238E27FC236}">
                    <a16:creationId xmlns:a16="http://schemas.microsoft.com/office/drawing/2014/main" id="{C0BDA32E-462D-69EE-AE57-551E4DB45E6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91398147"/>
                  </p:ext>
                </p:extLst>
              </p:nvPr>
            </p:nvGraphicFramePr>
            <p:xfrm rot="16200000">
              <a:off x="8427769" y="-62597"/>
              <a:ext cx="6385461" cy="7455733"/>
            </p:xfrm>
            <a:graphic>
              <a:graphicData uri="http://schemas.microsoft.com/office/drawing/2017/model3d">
                <am3d:model3d r:embed="rId3">
                  <am3d:spPr>
                    <a:xfrm rot="16200000">
                      <a:off x="0" y="0"/>
                      <a:ext cx="6385461" cy="7455733"/>
                    </a:xfrm>
                    <a:prstGeom prst="rect">
                      <a:avLst/>
                    </a:prstGeom>
                  </am3d:spPr>
                  <am3d:camera>
                    <am3d:pos x="0" y="0" z="613647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79330" d="1000000"/>
                    <am3d:preTrans dx="39054212" dy="-3537462" dz="7089004"/>
                    <am3d:scale>
                      <am3d:sx n="1000000" d="1000000"/>
                      <am3d:sy n="1000000" d="1000000"/>
                      <am3d:sz n="1000000" d="1000000"/>
                    </am3d:scale>
                    <am3d:rot ax="5174896" ay="2671634" az="507944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03739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3D Model 18">
                <a:extLst>
                  <a:ext uri="{FF2B5EF4-FFF2-40B4-BE49-F238E27FC236}">
                    <a16:creationId xmlns:a16="http://schemas.microsoft.com/office/drawing/2014/main" id="{C0BDA32E-462D-69EE-AE57-551E4DB45E6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6200000">
                <a:off x="8427769" y="-62597"/>
                <a:ext cx="6385461" cy="7455733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796BAEA-373E-41E5-B50F-D5D23AA4FA11}"/>
              </a:ext>
            </a:extLst>
          </p:cNvPr>
          <p:cNvSpPr/>
          <p:nvPr/>
        </p:nvSpPr>
        <p:spPr>
          <a:xfrm>
            <a:off x="-284136" y="-132583"/>
            <a:ext cx="12476136" cy="7137817"/>
          </a:xfrm>
          <a:custGeom>
            <a:avLst/>
            <a:gdLst>
              <a:gd name="connsiteX0" fmla="*/ 7603531 w 12476136"/>
              <a:gd name="connsiteY0" fmla="*/ 403803 h 7137817"/>
              <a:gd name="connsiteX1" fmla="*/ 6707466 w 12476136"/>
              <a:gd name="connsiteY1" fmla="*/ 1299868 h 7137817"/>
              <a:gd name="connsiteX2" fmla="*/ 6707466 w 12476136"/>
              <a:gd name="connsiteY2" fmla="*/ 5862043 h 7137817"/>
              <a:gd name="connsiteX3" fmla="*/ 7603531 w 12476136"/>
              <a:gd name="connsiteY3" fmla="*/ 6758108 h 7137817"/>
              <a:gd name="connsiteX4" fmla="*/ 11187681 w 12476136"/>
              <a:gd name="connsiteY4" fmla="*/ 6758108 h 7137817"/>
              <a:gd name="connsiteX5" fmla="*/ 12083746 w 12476136"/>
              <a:gd name="connsiteY5" fmla="*/ 5862043 h 7137817"/>
              <a:gd name="connsiteX6" fmla="*/ 12083746 w 12476136"/>
              <a:gd name="connsiteY6" fmla="*/ 1299868 h 7137817"/>
              <a:gd name="connsiteX7" fmla="*/ 11187681 w 12476136"/>
              <a:gd name="connsiteY7" fmla="*/ 403803 h 7137817"/>
              <a:gd name="connsiteX8" fmla="*/ 0 w 12476136"/>
              <a:gd name="connsiteY8" fmla="*/ 0 h 7137817"/>
              <a:gd name="connsiteX9" fmla="*/ 12476136 w 12476136"/>
              <a:gd name="connsiteY9" fmla="*/ 0 h 7137817"/>
              <a:gd name="connsiteX10" fmla="*/ 12476136 w 12476136"/>
              <a:gd name="connsiteY10" fmla="*/ 7137817 h 7137817"/>
              <a:gd name="connsiteX11" fmla="*/ 0 w 12476136"/>
              <a:gd name="connsiteY11" fmla="*/ 7137817 h 713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476136" h="7137817">
                <a:moveTo>
                  <a:pt x="7603531" y="403803"/>
                </a:moveTo>
                <a:cubicBezTo>
                  <a:pt x="7108648" y="403803"/>
                  <a:pt x="6707466" y="804985"/>
                  <a:pt x="6707466" y="1299868"/>
                </a:cubicBezTo>
                <a:lnTo>
                  <a:pt x="6707466" y="5862043"/>
                </a:lnTo>
                <a:cubicBezTo>
                  <a:pt x="6707466" y="6356926"/>
                  <a:pt x="7108648" y="6758108"/>
                  <a:pt x="7603531" y="6758108"/>
                </a:cubicBezTo>
                <a:lnTo>
                  <a:pt x="11187681" y="6758108"/>
                </a:lnTo>
                <a:cubicBezTo>
                  <a:pt x="11682564" y="6758108"/>
                  <a:pt x="12083746" y="6356926"/>
                  <a:pt x="12083746" y="5862043"/>
                </a:cubicBezTo>
                <a:lnTo>
                  <a:pt x="12083746" y="1299868"/>
                </a:lnTo>
                <a:cubicBezTo>
                  <a:pt x="12083746" y="804985"/>
                  <a:pt x="11682564" y="403803"/>
                  <a:pt x="11187681" y="403803"/>
                </a:cubicBezTo>
                <a:close/>
                <a:moveTo>
                  <a:pt x="0" y="0"/>
                </a:moveTo>
                <a:lnTo>
                  <a:pt x="12476136" y="0"/>
                </a:lnTo>
                <a:lnTo>
                  <a:pt x="12476136" y="7137817"/>
                </a:lnTo>
                <a:lnTo>
                  <a:pt x="0" y="7137817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74D1706-8F76-25F3-C9C0-EE1AA958BE5B}"/>
              </a:ext>
            </a:extLst>
          </p:cNvPr>
          <p:cNvGrpSpPr/>
          <p:nvPr/>
        </p:nvGrpSpPr>
        <p:grpSpPr>
          <a:xfrm>
            <a:off x="152400" y="259172"/>
            <a:ext cx="5376280" cy="6354305"/>
            <a:chOff x="152400" y="259172"/>
            <a:chExt cx="5376280" cy="635430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2013068-EE43-6040-F998-A7C68DAB5881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E0BC29F-3801-C8FA-27F5-A341F6BFEEEC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313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Converts rotational motion into linear</a:t>
              </a:r>
              <a:br>
                <a:rPr lang="en-US" dirty="0"/>
              </a:br>
              <a:r>
                <a:rPr lang="en-US" dirty="0"/>
                <a:t>lifting action delivering smooth and</a:t>
              </a:r>
              <a:br>
                <a:rPr lang="en-US" dirty="0"/>
              </a:br>
              <a:r>
                <a:rPr lang="en-US" dirty="0"/>
                <a:t>controlled vertical displacement of</a:t>
              </a:r>
              <a:br>
                <a:rPr lang="en-US" dirty="0"/>
              </a:br>
              <a:r>
                <a:rPr lang="en-US" dirty="0"/>
                <a:t>the scissor mechanism.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AISI 4340 Steel, annealed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Selected for its high toughness and superior strength ideal for load-bearing shaft applications.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B52DDB5-5AFA-1118-7746-62BB3AC8A205}"/>
                </a:ext>
              </a:extLst>
            </p:cNvPr>
            <p:cNvSpPr txBox="1"/>
            <p:nvPr/>
          </p:nvSpPr>
          <p:spPr>
            <a:xfrm>
              <a:off x="1607732" y="506186"/>
              <a:ext cx="24656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Lead Screw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C84A545-7AA9-4366-969F-F8CC4EDD5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6" b="596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CE3BF86-336B-2007-5FD2-81DBC84E48FA}"/>
              </a:ext>
            </a:extLst>
          </p:cNvPr>
          <p:cNvGrpSpPr/>
          <p:nvPr/>
        </p:nvGrpSpPr>
        <p:grpSpPr>
          <a:xfrm>
            <a:off x="152400" y="7396989"/>
            <a:ext cx="5376280" cy="6354305"/>
            <a:chOff x="152400" y="259172"/>
            <a:chExt cx="5376280" cy="6354305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96EE461-C739-706A-BF38-4ECB0620F7A5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ABC5B2B-87A9-458E-32D3-3767C0ADF364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Supports the scissor mechanism vertically</a:t>
              </a:r>
              <a:br>
                <a:rPr lang="en-US" dirty="0"/>
              </a:br>
              <a:r>
                <a:rPr lang="en-US" dirty="0"/>
                <a:t>by providing structural stability while resisting bending and operational stresses.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ASTM A36 steel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Selected for its high structural strength and good weldability.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B398B9F-BF59-4A44-6F86-4E6D05198F26}"/>
                </a:ext>
              </a:extLst>
            </p:cNvPr>
            <p:cNvSpPr txBox="1"/>
            <p:nvPr/>
          </p:nvSpPr>
          <p:spPr>
            <a:xfrm>
              <a:off x="1607732" y="506186"/>
              <a:ext cx="24656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Leg Support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55E2BC1-174C-0527-4D9E-770B39B7F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66" r="6966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63FB7B5-0940-90E2-A50E-341CECD5A534}"/>
              </a:ext>
            </a:extLst>
          </p:cNvPr>
          <p:cNvGrpSpPr/>
          <p:nvPr/>
        </p:nvGrpSpPr>
        <p:grpSpPr>
          <a:xfrm>
            <a:off x="152400" y="-6958109"/>
            <a:ext cx="5376280" cy="6354305"/>
            <a:chOff x="152400" y="259172"/>
            <a:chExt cx="5376280" cy="635430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28E0E60-2930-52BB-B73B-E13A6FD56107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E5AE4E-2468-9009-D539-4E949B9E5479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Provides stable top support for load distribution</a:t>
              </a:r>
              <a:br>
                <a:rPr lang="en-US" dirty="0"/>
              </a:br>
              <a:r>
                <a:rPr lang="en-US" dirty="0"/>
                <a:t>by offering a rigid mounting interface for components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AISI 1020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Chosen for its good strength and excellent machinability.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2288A59-E16C-D46E-3662-222D4E94D0C8}"/>
                </a:ext>
              </a:extLst>
            </p:cNvPr>
            <p:cNvSpPr txBox="1"/>
            <p:nvPr/>
          </p:nvSpPr>
          <p:spPr>
            <a:xfrm>
              <a:off x="1607732" y="506186"/>
              <a:ext cx="24656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Base Top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EE0D5FA-ECE0-FD2A-EF61-02A86EC3F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2913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60A74-F5DC-6641-B1C4-4D033A03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3D Model 18">
                <a:extLst>
                  <a:ext uri="{FF2B5EF4-FFF2-40B4-BE49-F238E27FC236}">
                    <a16:creationId xmlns:a16="http://schemas.microsoft.com/office/drawing/2014/main" id="{E648D727-267E-2E6C-506C-27E3C43FE01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35500319"/>
                  </p:ext>
                </p:extLst>
              </p:nvPr>
            </p:nvGraphicFramePr>
            <p:xfrm rot="16200000">
              <a:off x="7857089" y="-427395"/>
              <a:ext cx="5336806" cy="8594825"/>
            </p:xfrm>
            <a:graphic>
              <a:graphicData uri="http://schemas.microsoft.com/office/drawing/2017/model3d">
                <am3d:model3d r:embed="rId3">
                  <am3d:spPr>
                    <a:xfrm rot="16200000">
                      <a:off x="0" y="0"/>
                      <a:ext cx="5336806" cy="8594825"/>
                    </a:xfrm>
                    <a:prstGeom prst="rect">
                      <a:avLst/>
                    </a:prstGeom>
                  </am3d:spPr>
                  <am3d:camera>
                    <am3d:pos x="0" y="0" z="613647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79330" d="1000000"/>
                    <am3d:preTrans dx="39054212" dy="-3537462" dz="7089004"/>
                    <am3d:scale>
                      <am3d:sx n="1000000" d="1000000"/>
                      <am3d:sy n="1000000" d="1000000"/>
                      <am3d:sz n="1000000" d="1000000"/>
                    </am3d:scale>
                    <am3d:rot ay="540000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019386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3D Model 18">
                <a:extLst>
                  <a:ext uri="{FF2B5EF4-FFF2-40B4-BE49-F238E27FC236}">
                    <a16:creationId xmlns:a16="http://schemas.microsoft.com/office/drawing/2014/main" id="{E648D727-267E-2E6C-506C-27E3C43FE0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6200000">
                <a:off x="7857089" y="-427395"/>
                <a:ext cx="5336806" cy="8594825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2DBB3C-2E4E-4DBC-96F7-82F652D3378A}"/>
              </a:ext>
            </a:extLst>
          </p:cNvPr>
          <p:cNvSpPr/>
          <p:nvPr/>
        </p:nvSpPr>
        <p:spPr>
          <a:xfrm>
            <a:off x="-284136" y="-132583"/>
            <a:ext cx="12476136" cy="7137817"/>
          </a:xfrm>
          <a:custGeom>
            <a:avLst/>
            <a:gdLst>
              <a:gd name="connsiteX0" fmla="*/ 7603531 w 12476136"/>
              <a:gd name="connsiteY0" fmla="*/ 403803 h 7137817"/>
              <a:gd name="connsiteX1" fmla="*/ 6707466 w 12476136"/>
              <a:gd name="connsiteY1" fmla="*/ 1299868 h 7137817"/>
              <a:gd name="connsiteX2" fmla="*/ 6707466 w 12476136"/>
              <a:gd name="connsiteY2" fmla="*/ 5862043 h 7137817"/>
              <a:gd name="connsiteX3" fmla="*/ 7603531 w 12476136"/>
              <a:gd name="connsiteY3" fmla="*/ 6758108 h 7137817"/>
              <a:gd name="connsiteX4" fmla="*/ 11187681 w 12476136"/>
              <a:gd name="connsiteY4" fmla="*/ 6758108 h 7137817"/>
              <a:gd name="connsiteX5" fmla="*/ 12083746 w 12476136"/>
              <a:gd name="connsiteY5" fmla="*/ 5862043 h 7137817"/>
              <a:gd name="connsiteX6" fmla="*/ 12083746 w 12476136"/>
              <a:gd name="connsiteY6" fmla="*/ 1299868 h 7137817"/>
              <a:gd name="connsiteX7" fmla="*/ 11187681 w 12476136"/>
              <a:gd name="connsiteY7" fmla="*/ 403803 h 7137817"/>
              <a:gd name="connsiteX8" fmla="*/ 0 w 12476136"/>
              <a:gd name="connsiteY8" fmla="*/ 0 h 7137817"/>
              <a:gd name="connsiteX9" fmla="*/ 12476136 w 12476136"/>
              <a:gd name="connsiteY9" fmla="*/ 0 h 7137817"/>
              <a:gd name="connsiteX10" fmla="*/ 12476136 w 12476136"/>
              <a:gd name="connsiteY10" fmla="*/ 7137817 h 7137817"/>
              <a:gd name="connsiteX11" fmla="*/ 0 w 12476136"/>
              <a:gd name="connsiteY11" fmla="*/ 7137817 h 713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476136" h="7137817">
                <a:moveTo>
                  <a:pt x="7603531" y="403803"/>
                </a:moveTo>
                <a:cubicBezTo>
                  <a:pt x="7108648" y="403803"/>
                  <a:pt x="6707466" y="804985"/>
                  <a:pt x="6707466" y="1299868"/>
                </a:cubicBezTo>
                <a:lnTo>
                  <a:pt x="6707466" y="5862043"/>
                </a:lnTo>
                <a:cubicBezTo>
                  <a:pt x="6707466" y="6356926"/>
                  <a:pt x="7108648" y="6758108"/>
                  <a:pt x="7603531" y="6758108"/>
                </a:cubicBezTo>
                <a:lnTo>
                  <a:pt x="11187681" y="6758108"/>
                </a:lnTo>
                <a:cubicBezTo>
                  <a:pt x="11682564" y="6758108"/>
                  <a:pt x="12083746" y="6356926"/>
                  <a:pt x="12083746" y="5862043"/>
                </a:cubicBezTo>
                <a:lnTo>
                  <a:pt x="12083746" y="1299868"/>
                </a:lnTo>
                <a:cubicBezTo>
                  <a:pt x="12083746" y="804985"/>
                  <a:pt x="11682564" y="403803"/>
                  <a:pt x="11187681" y="403803"/>
                </a:cubicBezTo>
                <a:close/>
                <a:moveTo>
                  <a:pt x="0" y="0"/>
                </a:moveTo>
                <a:lnTo>
                  <a:pt x="12476136" y="0"/>
                </a:lnTo>
                <a:lnTo>
                  <a:pt x="12476136" y="7137817"/>
                </a:lnTo>
                <a:lnTo>
                  <a:pt x="0" y="7137817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03EEDBE-CD3D-5076-1331-EF6625E1875D}"/>
              </a:ext>
            </a:extLst>
          </p:cNvPr>
          <p:cNvGrpSpPr/>
          <p:nvPr/>
        </p:nvGrpSpPr>
        <p:grpSpPr>
          <a:xfrm>
            <a:off x="152400" y="259172"/>
            <a:ext cx="5376280" cy="6354305"/>
            <a:chOff x="152400" y="259172"/>
            <a:chExt cx="5376280" cy="635430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F16CDB3-E7B0-3550-318C-5B81E4E3F77B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49308C5-96D4-0C65-1753-3B73EC0A5F84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Supports the scissor mechanism vertically</a:t>
              </a:r>
              <a:br>
                <a:rPr lang="en-US" dirty="0"/>
              </a:br>
              <a:r>
                <a:rPr lang="en-US" dirty="0"/>
                <a:t>by providing structural stability while resisting bending and operational stresses.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ASTM A36 steel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Selected for its high structural strength and good weldability.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D06BE7D-B858-AD88-B425-512DE3347290}"/>
                </a:ext>
              </a:extLst>
            </p:cNvPr>
            <p:cNvSpPr txBox="1"/>
            <p:nvPr/>
          </p:nvSpPr>
          <p:spPr>
            <a:xfrm>
              <a:off x="1607732" y="506186"/>
              <a:ext cx="24656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Leg Support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9B24A97-91DE-E23C-8BB3-2314DB81A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66" r="6966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2F290C7-C6B7-AF6D-283C-13643E0CAD7F}"/>
              </a:ext>
            </a:extLst>
          </p:cNvPr>
          <p:cNvGrpSpPr/>
          <p:nvPr/>
        </p:nvGrpSpPr>
        <p:grpSpPr>
          <a:xfrm>
            <a:off x="152400" y="7396989"/>
            <a:ext cx="5376280" cy="6354305"/>
            <a:chOff x="152400" y="259172"/>
            <a:chExt cx="5376280" cy="6354305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F470376-5B98-E02D-C442-3ADA8FF0F71D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3D8041C-1BE7-00A6-D3CF-679676477571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Holds and guides the lead screw securely</a:t>
              </a:r>
              <a:br>
                <a:rPr lang="en-US" dirty="0"/>
              </a:br>
              <a:r>
                <a:rPr lang="en-US" dirty="0"/>
                <a:t>maintaining smooth rotational movement of the shaft.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b="1" dirty="0"/>
                <a:t>Phosphor Bronze 10% D (UNS C52400)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Chosen for its excellent wear resistance and low friction properties.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04EC081-8497-BC82-AE73-AA8130D51AF9}"/>
                </a:ext>
              </a:extLst>
            </p:cNvPr>
            <p:cNvSpPr txBox="1"/>
            <p:nvPr/>
          </p:nvSpPr>
          <p:spPr>
            <a:xfrm>
              <a:off x="1044256" y="482517"/>
              <a:ext cx="35925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Cylindrical Support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0FAB34B-CF8F-5E23-AA26-7B2275A22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65" b="5965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3D9CF13-B9F4-CE76-FA1A-175EC98C831B}"/>
              </a:ext>
            </a:extLst>
          </p:cNvPr>
          <p:cNvGrpSpPr/>
          <p:nvPr/>
        </p:nvGrpSpPr>
        <p:grpSpPr>
          <a:xfrm>
            <a:off x="152398" y="-6737605"/>
            <a:ext cx="5376280" cy="6354305"/>
            <a:chOff x="152400" y="259172"/>
            <a:chExt cx="5376280" cy="6354305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D6B9195F-2922-19C3-1EA7-C85E9A6C321F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BC1C5EE-546A-DB9B-DEA6-542C6D43CBAC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313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Converts rotational motion into linear</a:t>
              </a:r>
              <a:br>
                <a:rPr lang="en-US" dirty="0"/>
              </a:br>
              <a:r>
                <a:rPr lang="en-US" dirty="0"/>
                <a:t>lifting action delivering smooth and</a:t>
              </a:r>
              <a:br>
                <a:rPr lang="en-US" dirty="0"/>
              </a:br>
              <a:r>
                <a:rPr lang="en-US" dirty="0"/>
                <a:t>controlled vertical displacement of</a:t>
              </a:r>
              <a:br>
                <a:rPr lang="en-US" dirty="0"/>
              </a:br>
              <a:r>
                <a:rPr lang="en-US" dirty="0"/>
                <a:t>the scissor mechanism.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AISI 4340 Steel, annealed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Selected for its high toughness and superior strength ideal for load-bearing shaft applications.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1F6EBD9-9FF9-EDED-5477-C4C1EAEEFCE4}"/>
                </a:ext>
              </a:extLst>
            </p:cNvPr>
            <p:cNvSpPr txBox="1"/>
            <p:nvPr/>
          </p:nvSpPr>
          <p:spPr>
            <a:xfrm>
              <a:off x="1607732" y="506186"/>
              <a:ext cx="24656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Lead Screw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C75F804A-E273-4949-68B5-58684117A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6" b="596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0972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B1338-3C3E-C2C8-0539-359A78D1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3D Model 18">
                <a:extLst>
                  <a:ext uri="{FF2B5EF4-FFF2-40B4-BE49-F238E27FC236}">
                    <a16:creationId xmlns:a16="http://schemas.microsoft.com/office/drawing/2014/main" id="{9ABCFDB9-8373-965B-01E4-F115F88D11E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3070756"/>
                  </p:ext>
                </p:extLst>
              </p:nvPr>
            </p:nvGraphicFramePr>
            <p:xfrm>
              <a:off x="6096000" y="-1792112"/>
              <a:ext cx="6218208" cy="8082604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6218208" cy="8082604"/>
                    </a:xfrm>
                    <a:prstGeom prst="rect">
                      <a:avLst/>
                    </a:prstGeom>
                  </am3d:spPr>
                  <am3d:camera>
                    <am3d:pos x="0" y="0" z="613647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79330" d="1000000"/>
                    <am3d:preTrans dx="39054212" dy="-3537462" dz="7089004"/>
                    <am3d:scale>
                      <am3d:sx n="1000000" d="1000000"/>
                      <am3d:sy n="1000000" d="1000000"/>
                      <am3d:sz n="1000000" d="1000000"/>
                    </am3d:scale>
                    <am3d:rot ax="3434183" ay="-14657" az="10777248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190291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3D Model 18">
                <a:extLst>
                  <a:ext uri="{FF2B5EF4-FFF2-40B4-BE49-F238E27FC236}">
                    <a16:creationId xmlns:a16="http://schemas.microsoft.com/office/drawing/2014/main" id="{9ABCFDB9-8373-965B-01E4-F115F88D11E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6000" y="-1792112"/>
                <a:ext cx="6218208" cy="8082604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CDCC19C-3585-E536-5618-F96BBF20ED54}"/>
              </a:ext>
            </a:extLst>
          </p:cNvPr>
          <p:cNvSpPr/>
          <p:nvPr/>
        </p:nvSpPr>
        <p:spPr>
          <a:xfrm>
            <a:off x="-284136" y="-132583"/>
            <a:ext cx="12476136" cy="7137817"/>
          </a:xfrm>
          <a:custGeom>
            <a:avLst/>
            <a:gdLst>
              <a:gd name="connsiteX0" fmla="*/ 7603531 w 12476136"/>
              <a:gd name="connsiteY0" fmla="*/ 403803 h 7137817"/>
              <a:gd name="connsiteX1" fmla="*/ 6707466 w 12476136"/>
              <a:gd name="connsiteY1" fmla="*/ 1299868 h 7137817"/>
              <a:gd name="connsiteX2" fmla="*/ 6707466 w 12476136"/>
              <a:gd name="connsiteY2" fmla="*/ 5862043 h 7137817"/>
              <a:gd name="connsiteX3" fmla="*/ 7603531 w 12476136"/>
              <a:gd name="connsiteY3" fmla="*/ 6758108 h 7137817"/>
              <a:gd name="connsiteX4" fmla="*/ 11187681 w 12476136"/>
              <a:gd name="connsiteY4" fmla="*/ 6758108 h 7137817"/>
              <a:gd name="connsiteX5" fmla="*/ 12083746 w 12476136"/>
              <a:gd name="connsiteY5" fmla="*/ 5862043 h 7137817"/>
              <a:gd name="connsiteX6" fmla="*/ 12083746 w 12476136"/>
              <a:gd name="connsiteY6" fmla="*/ 1299868 h 7137817"/>
              <a:gd name="connsiteX7" fmla="*/ 11187681 w 12476136"/>
              <a:gd name="connsiteY7" fmla="*/ 403803 h 7137817"/>
              <a:gd name="connsiteX8" fmla="*/ 0 w 12476136"/>
              <a:gd name="connsiteY8" fmla="*/ 0 h 7137817"/>
              <a:gd name="connsiteX9" fmla="*/ 12476136 w 12476136"/>
              <a:gd name="connsiteY9" fmla="*/ 0 h 7137817"/>
              <a:gd name="connsiteX10" fmla="*/ 12476136 w 12476136"/>
              <a:gd name="connsiteY10" fmla="*/ 7137817 h 7137817"/>
              <a:gd name="connsiteX11" fmla="*/ 0 w 12476136"/>
              <a:gd name="connsiteY11" fmla="*/ 7137817 h 713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476136" h="7137817">
                <a:moveTo>
                  <a:pt x="7603531" y="403803"/>
                </a:moveTo>
                <a:cubicBezTo>
                  <a:pt x="7108648" y="403803"/>
                  <a:pt x="6707466" y="804985"/>
                  <a:pt x="6707466" y="1299868"/>
                </a:cubicBezTo>
                <a:lnTo>
                  <a:pt x="6707466" y="5862043"/>
                </a:lnTo>
                <a:cubicBezTo>
                  <a:pt x="6707466" y="6356926"/>
                  <a:pt x="7108648" y="6758108"/>
                  <a:pt x="7603531" y="6758108"/>
                </a:cubicBezTo>
                <a:lnTo>
                  <a:pt x="11187681" y="6758108"/>
                </a:lnTo>
                <a:cubicBezTo>
                  <a:pt x="11682564" y="6758108"/>
                  <a:pt x="12083746" y="6356926"/>
                  <a:pt x="12083746" y="5862043"/>
                </a:cubicBezTo>
                <a:lnTo>
                  <a:pt x="12083746" y="1299868"/>
                </a:lnTo>
                <a:cubicBezTo>
                  <a:pt x="12083746" y="804985"/>
                  <a:pt x="11682564" y="403803"/>
                  <a:pt x="11187681" y="403803"/>
                </a:cubicBezTo>
                <a:close/>
                <a:moveTo>
                  <a:pt x="0" y="0"/>
                </a:moveTo>
                <a:lnTo>
                  <a:pt x="12476136" y="0"/>
                </a:lnTo>
                <a:lnTo>
                  <a:pt x="12476136" y="7137817"/>
                </a:lnTo>
                <a:lnTo>
                  <a:pt x="0" y="7137817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50109F-91EF-4732-8A27-82EFE812939D}"/>
              </a:ext>
            </a:extLst>
          </p:cNvPr>
          <p:cNvGrpSpPr/>
          <p:nvPr/>
        </p:nvGrpSpPr>
        <p:grpSpPr>
          <a:xfrm>
            <a:off x="152400" y="259172"/>
            <a:ext cx="5376280" cy="6354305"/>
            <a:chOff x="152400" y="259172"/>
            <a:chExt cx="5376280" cy="635430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65A530F-4FD5-9C3A-8B29-D0FF1A8996FE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04476E5-9C32-784E-6C1E-62DA003B5823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Holds and guides the lead screw securely</a:t>
              </a:r>
              <a:br>
                <a:rPr lang="en-US" dirty="0"/>
              </a:br>
              <a:r>
                <a:rPr lang="en-US" dirty="0"/>
                <a:t>maintaining smooth rotational movement of the shaft.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b="1" dirty="0"/>
                <a:t>Phosphor Bronze 10% D (UNS C52400)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Chosen for its excellent wear resistance and low friction properties.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8519A3-8D29-642E-25D0-7ED828A5ADB7}"/>
                </a:ext>
              </a:extLst>
            </p:cNvPr>
            <p:cNvSpPr txBox="1"/>
            <p:nvPr/>
          </p:nvSpPr>
          <p:spPr>
            <a:xfrm>
              <a:off x="1044256" y="482517"/>
              <a:ext cx="35925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Cylindrical Support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D9B0D85-43E7-A230-2FD4-A743FA5AF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65" b="5965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4C487E2-2122-4B75-0CFB-2639C4D82C27}"/>
              </a:ext>
            </a:extLst>
          </p:cNvPr>
          <p:cNvGrpSpPr/>
          <p:nvPr/>
        </p:nvGrpSpPr>
        <p:grpSpPr>
          <a:xfrm>
            <a:off x="152400" y="-6794305"/>
            <a:ext cx="5376280" cy="6354305"/>
            <a:chOff x="152400" y="259172"/>
            <a:chExt cx="5376280" cy="635430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A7F57E8-7243-6585-5070-72F8451516E2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C16ABAC-ACA2-2BAC-BCDA-B8E3B4AEBBA0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Supports the scissor mechanism vertically</a:t>
              </a:r>
              <a:br>
                <a:rPr lang="en-US" dirty="0"/>
              </a:br>
              <a:r>
                <a:rPr lang="en-US" dirty="0"/>
                <a:t>by providing structural stability while resisting bending and operational stresses.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ASTM A36 steel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Selected for its high structural strength and good weldability.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274C61-43B2-18E8-19BD-1BAC19270F5D}"/>
                </a:ext>
              </a:extLst>
            </p:cNvPr>
            <p:cNvSpPr txBox="1"/>
            <p:nvPr/>
          </p:nvSpPr>
          <p:spPr>
            <a:xfrm>
              <a:off x="1607732" y="506186"/>
              <a:ext cx="24656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Leg Support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0EED6DD-CCD7-BBC4-B2AE-A230FCF8D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66" r="6966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8A4995-10DD-CA17-1BFC-46673DF0C648}"/>
              </a:ext>
            </a:extLst>
          </p:cNvPr>
          <p:cNvGrpSpPr/>
          <p:nvPr/>
        </p:nvGrpSpPr>
        <p:grpSpPr>
          <a:xfrm>
            <a:off x="152400" y="7312651"/>
            <a:ext cx="5376280" cy="6354305"/>
            <a:chOff x="152400" y="259172"/>
            <a:chExt cx="5376280" cy="635430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44F7D1D-7120-B70F-AEE9-226E8855049A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D5FBCE-F279-C484-1688-A32DB90F26B5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Restricts axial movement between the support</a:t>
              </a:r>
              <a:br>
                <a:rPr lang="en-US" dirty="0"/>
              </a:br>
              <a:r>
                <a:rPr lang="en-US" dirty="0"/>
                <a:t>and lead screw while permitting free rotation</a:t>
              </a:r>
              <a:br>
                <a:rPr lang="en-US" dirty="0"/>
              </a:br>
              <a:r>
                <a:rPr lang="en-US" dirty="0"/>
                <a:t>ensuring stable transmission of motion</a:t>
              </a:r>
              <a:br>
                <a:rPr lang="en-US" dirty="0"/>
              </a:br>
              <a:r>
                <a:rPr lang="en-US" dirty="0"/>
                <a:t>and maintaining alignment under load.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b="1" dirty="0"/>
                <a:t>Phosphor Bronze 10% D (UNS C52400)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Chosen for its excellent wear resistance and low friction properties.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A21A386-7EA4-7830-0A23-14C0E4BDB835}"/>
                </a:ext>
              </a:extLst>
            </p:cNvPr>
            <p:cNvSpPr txBox="1"/>
            <p:nvPr/>
          </p:nvSpPr>
          <p:spPr>
            <a:xfrm>
              <a:off x="1112217" y="408688"/>
              <a:ext cx="34566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Cylindrical Support Fixed</a:t>
              </a:r>
              <a:endParaRPr lang="en-IN" sz="24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4645CBE-8E47-DA85-AA57-B69C2BE4E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56" b="2356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2489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B0F8-0A5D-9AC5-90CD-5B3A40439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3D Model 18">
                <a:extLst>
                  <a:ext uri="{FF2B5EF4-FFF2-40B4-BE49-F238E27FC236}">
                    <a16:creationId xmlns:a16="http://schemas.microsoft.com/office/drawing/2014/main" id="{07CE56A4-1FF3-2BBE-CB5C-76975A454E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4754023"/>
                  </p:ext>
                </p:extLst>
              </p:nvPr>
            </p:nvGraphicFramePr>
            <p:xfrm>
              <a:off x="4466162" y="-1911896"/>
              <a:ext cx="9384000" cy="11030111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9384000" cy="11030111"/>
                    </a:xfrm>
                    <a:prstGeom prst="rect">
                      <a:avLst/>
                    </a:prstGeom>
                  </am3d:spPr>
                  <am3d:camera>
                    <am3d:pos x="0" y="0" z="613647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79330" d="1000000"/>
                    <am3d:preTrans dx="39054212" dy="-3537462" dz="7089004"/>
                    <am3d:scale>
                      <am3d:sx n="1000000" d="1000000"/>
                      <am3d:sy n="1000000" d="1000000"/>
                      <am3d:sz n="1000000" d="1000000"/>
                    </am3d:scale>
                    <am3d:rot ax="-5511663" ay="-391" az="1078825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69522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3D Model 18">
                <a:extLst>
                  <a:ext uri="{FF2B5EF4-FFF2-40B4-BE49-F238E27FC236}">
                    <a16:creationId xmlns:a16="http://schemas.microsoft.com/office/drawing/2014/main" id="{07CE56A4-1FF3-2BBE-CB5C-76975A454E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66162" y="-1911896"/>
                <a:ext cx="9384000" cy="11030111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8F991D-368D-B3E9-ABC5-7CC077333B2E}"/>
              </a:ext>
            </a:extLst>
          </p:cNvPr>
          <p:cNvSpPr/>
          <p:nvPr/>
        </p:nvSpPr>
        <p:spPr>
          <a:xfrm>
            <a:off x="-284136" y="-132583"/>
            <a:ext cx="12476136" cy="7137817"/>
          </a:xfrm>
          <a:custGeom>
            <a:avLst/>
            <a:gdLst>
              <a:gd name="connsiteX0" fmla="*/ 7603531 w 12476136"/>
              <a:gd name="connsiteY0" fmla="*/ 403803 h 7137817"/>
              <a:gd name="connsiteX1" fmla="*/ 6707466 w 12476136"/>
              <a:gd name="connsiteY1" fmla="*/ 1299868 h 7137817"/>
              <a:gd name="connsiteX2" fmla="*/ 6707466 w 12476136"/>
              <a:gd name="connsiteY2" fmla="*/ 5862043 h 7137817"/>
              <a:gd name="connsiteX3" fmla="*/ 7603531 w 12476136"/>
              <a:gd name="connsiteY3" fmla="*/ 6758108 h 7137817"/>
              <a:gd name="connsiteX4" fmla="*/ 11187681 w 12476136"/>
              <a:gd name="connsiteY4" fmla="*/ 6758108 h 7137817"/>
              <a:gd name="connsiteX5" fmla="*/ 12083746 w 12476136"/>
              <a:gd name="connsiteY5" fmla="*/ 5862043 h 7137817"/>
              <a:gd name="connsiteX6" fmla="*/ 12083746 w 12476136"/>
              <a:gd name="connsiteY6" fmla="*/ 1299868 h 7137817"/>
              <a:gd name="connsiteX7" fmla="*/ 11187681 w 12476136"/>
              <a:gd name="connsiteY7" fmla="*/ 403803 h 7137817"/>
              <a:gd name="connsiteX8" fmla="*/ 0 w 12476136"/>
              <a:gd name="connsiteY8" fmla="*/ 0 h 7137817"/>
              <a:gd name="connsiteX9" fmla="*/ 12476136 w 12476136"/>
              <a:gd name="connsiteY9" fmla="*/ 0 h 7137817"/>
              <a:gd name="connsiteX10" fmla="*/ 12476136 w 12476136"/>
              <a:gd name="connsiteY10" fmla="*/ 7137817 h 7137817"/>
              <a:gd name="connsiteX11" fmla="*/ 0 w 12476136"/>
              <a:gd name="connsiteY11" fmla="*/ 7137817 h 713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476136" h="7137817">
                <a:moveTo>
                  <a:pt x="7603531" y="403803"/>
                </a:moveTo>
                <a:cubicBezTo>
                  <a:pt x="7108648" y="403803"/>
                  <a:pt x="6707466" y="804985"/>
                  <a:pt x="6707466" y="1299868"/>
                </a:cubicBezTo>
                <a:lnTo>
                  <a:pt x="6707466" y="5862043"/>
                </a:lnTo>
                <a:cubicBezTo>
                  <a:pt x="6707466" y="6356926"/>
                  <a:pt x="7108648" y="6758108"/>
                  <a:pt x="7603531" y="6758108"/>
                </a:cubicBezTo>
                <a:lnTo>
                  <a:pt x="11187681" y="6758108"/>
                </a:lnTo>
                <a:cubicBezTo>
                  <a:pt x="11682564" y="6758108"/>
                  <a:pt x="12083746" y="6356926"/>
                  <a:pt x="12083746" y="5862043"/>
                </a:cubicBezTo>
                <a:lnTo>
                  <a:pt x="12083746" y="1299868"/>
                </a:lnTo>
                <a:cubicBezTo>
                  <a:pt x="12083746" y="804985"/>
                  <a:pt x="11682564" y="403803"/>
                  <a:pt x="11187681" y="403803"/>
                </a:cubicBezTo>
                <a:close/>
                <a:moveTo>
                  <a:pt x="0" y="0"/>
                </a:moveTo>
                <a:lnTo>
                  <a:pt x="12476136" y="0"/>
                </a:lnTo>
                <a:lnTo>
                  <a:pt x="12476136" y="7137817"/>
                </a:lnTo>
                <a:lnTo>
                  <a:pt x="0" y="7137817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14C1CFD-F446-2683-B30E-69CF4D866EF8}"/>
              </a:ext>
            </a:extLst>
          </p:cNvPr>
          <p:cNvGrpSpPr/>
          <p:nvPr/>
        </p:nvGrpSpPr>
        <p:grpSpPr>
          <a:xfrm>
            <a:off x="152400" y="259172"/>
            <a:ext cx="5376280" cy="6354305"/>
            <a:chOff x="152400" y="259172"/>
            <a:chExt cx="5376280" cy="635430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9D74F17-7191-0CD2-7521-9AAE07CBE124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70C8F5-D1EF-594A-ED10-A210B1222350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Restricts axial movement between the support</a:t>
              </a:r>
              <a:br>
                <a:rPr lang="en-US" dirty="0"/>
              </a:br>
              <a:r>
                <a:rPr lang="en-US" dirty="0"/>
                <a:t>and lead screw while permitting free rotation</a:t>
              </a:r>
              <a:br>
                <a:rPr lang="en-US" dirty="0"/>
              </a:br>
              <a:r>
                <a:rPr lang="en-US" dirty="0"/>
                <a:t>ensuring stable transmission of motion</a:t>
              </a:r>
              <a:br>
                <a:rPr lang="en-US" dirty="0"/>
              </a:br>
              <a:r>
                <a:rPr lang="en-US" dirty="0"/>
                <a:t>and maintaining alignment under load.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b="1" dirty="0"/>
                <a:t>Phosphor Bronze 10% D (UNS C52400)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Chosen for its excellent wear resistance and low friction properties.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D851B11-1152-DE98-4ED8-EE1A21B2B577}"/>
                </a:ext>
              </a:extLst>
            </p:cNvPr>
            <p:cNvSpPr txBox="1"/>
            <p:nvPr/>
          </p:nvSpPr>
          <p:spPr>
            <a:xfrm>
              <a:off x="1112217" y="408688"/>
              <a:ext cx="34566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Cylindrical Support Fixed</a:t>
              </a:r>
              <a:endParaRPr lang="en-IN" sz="24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C166A19-5914-860C-0D37-2EC99A405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56" b="2356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2FD710E-7686-41CA-B0B0-42DD5610B37C}"/>
              </a:ext>
            </a:extLst>
          </p:cNvPr>
          <p:cNvGrpSpPr/>
          <p:nvPr/>
        </p:nvGrpSpPr>
        <p:grpSpPr>
          <a:xfrm>
            <a:off x="152397" y="-7086042"/>
            <a:ext cx="5376280" cy="6354305"/>
            <a:chOff x="152400" y="259172"/>
            <a:chExt cx="5376280" cy="635430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6A253F2-E0E2-9749-A7DB-F2A18465B4B8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C5FF152-515A-5765-AF25-003465758DB8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Holds and guides the lead screw securely</a:t>
              </a:r>
              <a:br>
                <a:rPr lang="en-US" dirty="0"/>
              </a:br>
              <a:r>
                <a:rPr lang="en-US" dirty="0"/>
                <a:t>maintaining smooth rotational movement of the shaft.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b="1" dirty="0"/>
                <a:t>Phosphor Bronze 10% D (UNS C52400)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Chosen for its excellent wear resistance and low friction properties.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0E5C8C-7C13-3702-B98F-39C29E9350A3}"/>
                </a:ext>
              </a:extLst>
            </p:cNvPr>
            <p:cNvSpPr txBox="1"/>
            <p:nvPr/>
          </p:nvSpPr>
          <p:spPr>
            <a:xfrm>
              <a:off x="1044256" y="482517"/>
              <a:ext cx="35925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Cylindrical Support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A7E84F4-E86A-F101-1B65-05D60AF01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65" b="5965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00F590-415F-2F47-4A59-FA62AC366C64}"/>
              </a:ext>
            </a:extLst>
          </p:cNvPr>
          <p:cNvGrpSpPr/>
          <p:nvPr/>
        </p:nvGrpSpPr>
        <p:grpSpPr>
          <a:xfrm>
            <a:off x="152397" y="7177442"/>
            <a:ext cx="5376280" cy="6354305"/>
            <a:chOff x="152400" y="259172"/>
            <a:chExt cx="5376280" cy="6354305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8D2F94F-8CAF-8CEA-B55E-870BA3F5A5E1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6C50B81-5A7A-1CE4-387A-0F2CF670F817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Acts as a point joint connecting</a:t>
              </a:r>
              <a:br>
                <a:rPr lang="en-US" dirty="0"/>
              </a:br>
              <a:r>
                <a:rPr lang="en-US" dirty="0"/>
                <a:t>the scissor leg supports enabling</a:t>
              </a:r>
              <a:br>
                <a:rPr lang="en-US" dirty="0"/>
              </a:br>
              <a:r>
                <a:rPr lang="en-US" dirty="0"/>
                <a:t>smooth pivoting motion and stable</a:t>
              </a:r>
              <a:br>
                <a:rPr lang="en-US" dirty="0"/>
              </a:br>
              <a:r>
                <a:rPr lang="en-US" dirty="0"/>
                <a:t>load transfer during operation.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b="1" dirty="0"/>
                <a:t>Alloy Steel (SS)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Chosen for its high strength and wear resistance.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08AF40A-A681-AB3B-CA59-43EBC10504B4}"/>
                </a:ext>
              </a:extLst>
            </p:cNvPr>
            <p:cNvSpPr txBox="1"/>
            <p:nvPr/>
          </p:nvSpPr>
          <p:spPr>
            <a:xfrm>
              <a:off x="1112217" y="492664"/>
              <a:ext cx="34566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Pin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3334C89-FC0A-8022-C76C-B4965D784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09" b="1809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8643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A5133-B71E-A8EF-8219-6DAB1FD4A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3D Model 18">
                <a:extLst>
                  <a:ext uri="{FF2B5EF4-FFF2-40B4-BE49-F238E27FC236}">
                    <a16:creationId xmlns:a16="http://schemas.microsoft.com/office/drawing/2014/main" id="{1FEF2AF0-4654-B50E-8E53-EE422EB889D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59580911"/>
                  </p:ext>
                </p:extLst>
              </p:nvPr>
            </p:nvGraphicFramePr>
            <p:xfrm rot="16200000">
              <a:off x="4787751" y="-3368032"/>
              <a:ext cx="7719147" cy="11194469"/>
            </p:xfrm>
            <a:graphic>
              <a:graphicData uri="http://schemas.microsoft.com/office/drawing/2017/model3d">
                <am3d:model3d r:embed="rId3">
                  <am3d:spPr>
                    <a:xfrm rot="16200000">
                      <a:off x="0" y="0"/>
                      <a:ext cx="7719147" cy="11194469"/>
                    </a:xfrm>
                    <a:prstGeom prst="rect">
                      <a:avLst/>
                    </a:prstGeom>
                  </am3d:spPr>
                  <am3d:camera>
                    <am3d:pos x="0" y="0" z="613647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79330" d="1000000"/>
                    <am3d:preTrans dx="39054212" dy="-3537462" dz="7089004"/>
                    <am3d:scale>
                      <am3d:sx n="1000000" d="1000000"/>
                      <am3d:sy n="1000000" d="1000000"/>
                      <am3d:sz n="1000000" d="1000000"/>
                    </am3d:scale>
                    <am3d:rot ax="6633239" ay="-4331998" az="-6651407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291220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3D Model 18">
                <a:extLst>
                  <a:ext uri="{FF2B5EF4-FFF2-40B4-BE49-F238E27FC236}">
                    <a16:creationId xmlns:a16="http://schemas.microsoft.com/office/drawing/2014/main" id="{1FEF2AF0-4654-B50E-8E53-EE422EB889D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6200000">
                <a:off x="4787751" y="-3368032"/>
                <a:ext cx="7719147" cy="11194469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BB3904-A94B-E03D-D365-36C5E9674A88}"/>
              </a:ext>
            </a:extLst>
          </p:cNvPr>
          <p:cNvSpPr/>
          <p:nvPr/>
        </p:nvSpPr>
        <p:spPr>
          <a:xfrm>
            <a:off x="-284136" y="-132583"/>
            <a:ext cx="12476136" cy="7137817"/>
          </a:xfrm>
          <a:custGeom>
            <a:avLst/>
            <a:gdLst>
              <a:gd name="connsiteX0" fmla="*/ 7603531 w 12476136"/>
              <a:gd name="connsiteY0" fmla="*/ 403803 h 7137817"/>
              <a:gd name="connsiteX1" fmla="*/ 6707466 w 12476136"/>
              <a:gd name="connsiteY1" fmla="*/ 1299868 h 7137817"/>
              <a:gd name="connsiteX2" fmla="*/ 6707466 w 12476136"/>
              <a:gd name="connsiteY2" fmla="*/ 5862043 h 7137817"/>
              <a:gd name="connsiteX3" fmla="*/ 7603531 w 12476136"/>
              <a:gd name="connsiteY3" fmla="*/ 6758108 h 7137817"/>
              <a:gd name="connsiteX4" fmla="*/ 11187681 w 12476136"/>
              <a:gd name="connsiteY4" fmla="*/ 6758108 h 7137817"/>
              <a:gd name="connsiteX5" fmla="*/ 12083746 w 12476136"/>
              <a:gd name="connsiteY5" fmla="*/ 5862043 h 7137817"/>
              <a:gd name="connsiteX6" fmla="*/ 12083746 w 12476136"/>
              <a:gd name="connsiteY6" fmla="*/ 1299868 h 7137817"/>
              <a:gd name="connsiteX7" fmla="*/ 11187681 w 12476136"/>
              <a:gd name="connsiteY7" fmla="*/ 403803 h 7137817"/>
              <a:gd name="connsiteX8" fmla="*/ 0 w 12476136"/>
              <a:gd name="connsiteY8" fmla="*/ 0 h 7137817"/>
              <a:gd name="connsiteX9" fmla="*/ 12476136 w 12476136"/>
              <a:gd name="connsiteY9" fmla="*/ 0 h 7137817"/>
              <a:gd name="connsiteX10" fmla="*/ 12476136 w 12476136"/>
              <a:gd name="connsiteY10" fmla="*/ 7137817 h 7137817"/>
              <a:gd name="connsiteX11" fmla="*/ 0 w 12476136"/>
              <a:gd name="connsiteY11" fmla="*/ 7137817 h 713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476136" h="7137817">
                <a:moveTo>
                  <a:pt x="7603531" y="403803"/>
                </a:moveTo>
                <a:cubicBezTo>
                  <a:pt x="7108648" y="403803"/>
                  <a:pt x="6707466" y="804985"/>
                  <a:pt x="6707466" y="1299868"/>
                </a:cubicBezTo>
                <a:lnTo>
                  <a:pt x="6707466" y="5862043"/>
                </a:lnTo>
                <a:cubicBezTo>
                  <a:pt x="6707466" y="6356926"/>
                  <a:pt x="7108648" y="6758108"/>
                  <a:pt x="7603531" y="6758108"/>
                </a:cubicBezTo>
                <a:lnTo>
                  <a:pt x="11187681" y="6758108"/>
                </a:lnTo>
                <a:cubicBezTo>
                  <a:pt x="11682564" y="6758108"/>
                  <a:pt x="12083746" y="6356926"/>
                  <a:pt x="12083746" y="5862043"/>
                </a:cubicBezTo>
                <a:lnTo>
                  <a:pt x="12083746" y="1299868"/>
                </a:lnTo>
                <a:cubicBezTo>
                  <a:pt x="12083746" y="804985"/>
                  <a:pt x="11682564" y="403803"/>
                  <a:pt x="11187681" y="403803"/>
                </a:cubicBezTo>
                <a:close/>
                <a:moveTo>
                  <a:pt x="0" y="0"/>
                </a:moveTo>
                <a:lnTo>
                  <a:pt x="12476136" y="0"/>
                </a:lnTo>
                <a:lnTo>
                  <a:pt x="12476136" y="7137817"/>
                </a:lnTo>
                <a:lnTo>
                  <a:pt x="0" y="7137817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364A877-1AA4-92E3-559F-536B369207C0}"/>
              </a:ext>
            </a:extLst>
          </p:cNvPr>
          <p:cNvGrpSpPr/>
          <p:nvPr/>
        </p:nvGrpSpPr>
        <p:grpSpPr>
          <a:xfrm>
            <a:off x="152400" y="259172"/>
            <a:ext cx="5376280" cy="6354305"/>
            <a:chOff x="152400" y="259172"/>
            <a:chExt cx="5376280" cy="635430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D852290-A2B7-A901-919F-FBA9D308DA90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A03F8A7-21E3-E1BB-6863-192F6D068359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Acts as a point joint connecting</a:t>
              </a:r>
              <a:br>
                <a:rPr lang="en-US" dirty="0"/>
              </a:br>
              <a:r>
                <a:rPr lang="en-US" dirty="0"/>
                <a:t>the scissor leg supports enabling</a:t>
              </a:r>
              <a:br>
                <a:rPr lang="en-US" dirty="0"/>
              </a:br>
              <a:r>
                <a:rPr lang="en-US" dirty="0"/>
                <a:t>smooth pivoting motion and stable</a:t>
              </a:r>
              <a:br>
                <a:rPr lang="en-US" dirty="0"/>
              </a:br>
              <a:r>
                <a:rPr lang="en-US" dirty="0"/>
                <a:t>load transfer during operation.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b="1" dirty="0"/>
                <a:t>Alloy Steel (SS)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Chosen for its high strength and wear resistance.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7D35B96-C270-935F-F6A6-D88CEBCE7962}"/>
                </a:ext>
              </a:extLst>
            </p:cNvPr>
            <p:cNvSpPr txBox="1"/>
            <p:nvPr/>
          </p:nvSpPr>
          <p:spPr>
            <a:xfrm>
              <a:off x="1112217" y="492664"/>
              <a:ext cx="34566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Pin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26CB5EF-9BB0-BF6B-2B2E-66AFF1300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09" b="1809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2F182BE-3398-5821-0D61-D579776CEFC2}"/>
              </a:ext>
            </a:extLst>
          </p:cNvPr>
          <p:cNvGrpSpPr/>
          <p:nvPr/>
        </p:nvGrpSpPr>
        <p:grpSpPr>
          <a:xfrm>
            <a:off x="152400" y="-7007460"/>
            <a:ext cx="5376280" cy="6354305"/>
            <a:chOff x="152400" y="259172"/>
            <a:chExt cx="5376280" cy="635430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7CF8866-2422-5FF2-CAAC-D2CDAC07B672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4C4514C-F719-9FB7-1E12-FF387CA00DD5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Restricts axial movement between the support</a:t>
              </a:r>
              <a:br>
                <a:rPr lang="en-US" dirty="0"/>
              </a:br>
              <a:r>
                <a:rPr lang="en-US" dirty="0"/>
                <a:t>and lead screw while permitting free rotation</a:t>
              </a:r>
              <a:br>
                <a:rPr lang="en-US" dirty="0"/>
              </a:br>
              <a:r>
                <a:rPr lang="en-US" dirty="0"/>
                <a:t>ensuring stable transmission of motion</a:t>
              </a:r>
              <a:br>
                <a:rPr lang="en-US" dirty="0"/>
              </a:br>
              <a:r>
                <a:rPr lang="en-US" dirty="0"/>
                <a:t>and maintaining alignment under load.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b="1" dirty="0"/>
                <a:t>Phosphor Bronze 10% D (UNS C52400)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Chosen for its excellent wear resistance and low friction properties.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CA4DEB-A299-E44E-FD14-44AF1545678E}"/>
                </a:ext>
              </a:extLst>
            </p:cNvPr>
            <p:cNvSpPr txBox="1"/>
            <p:nvPr/>
          </p:nvSpPr>
          <p:spPr>
            <a:xfrm>
              <a:off x="1112217" y="408688"/>
              <a:ext cx="34566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Cylindrical Support Fixed</a:t>
              </a:r>
              <a:endParaRPr lang="en-IN" sz="24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17C7CE5-B12E-178D-7578-DAE5D1A53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56" b="2356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1AF3E96-C88B-37FA-72B0-9624F0C91C02}"/>
              </a:ext>
            </a:extLst>
          </p:cNvPr>
          <p:cNvGrpSpPr/>
          <p:nvPr/>
        </p:nvGrpSpPr>
        <p:grpSpPr>
          <a:xfrm>
            <a:off x="152400" y="7249602"/>
            <a:ext cx="5376280" cy="6354305"/>
            <a:chOff x="152400" y="259172"/>
            <a:chExt cx="5376280" cy="6354305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03B2A72-0452-599F-4322-2C7115425807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81EA26C-073B-398E-447E-757F2905B37A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Provides a stable interface between</a:t>
              </a:r>
              <a:br>
                <a:rPr lang="en-US" dirty="0"/>
              </a:br>
              <a:r>
                <a:rPr lang="en-US" dirty="0"/>
                <a:t>the scissor leg support and base</a:t>
              </a:r>
              <a:br>
                <a:rPr lang="en-US" dirty="0"/>
              </a:br>
              <a:r>
                <a:rPr lang="en-US" dirty="0"/>
                <a:t>plate allowing smooth rotation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b="1" dirty="0"/>
                <a:t>Cast Alloy Steel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Selected for its durability and ability to withstand cyclic loads.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EE637B0-D3FC-5DFD-F1FE-B9A69FBA0E50}"/>
                </a:ext>
              </a:extLst>
            </p:cNvPr>
            <p:cNvSpPr txBox="1"/>
            <p:nvPr/>
          </p:nvSpPr>
          <p:spPr>
            <a:xfrm>
              <a:off x="1112217" y="492664"/>
              <a:ext cx="34566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Bush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F2676E2-42E5-4B3D-F13F-42B53AC1D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72" b="5872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7633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1C95A-A10D-294A-CD12-8B36CD2B0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3D Model 18">
                <a:extLst>
                  <a:ext uri="{FF2B5EF4-FFF2-40B4-BE49-F238E27FC236}">
                    <a16:creationId xmlns:a16="http://schemas.microsoft.com/office/drawing/2014/main" id="{6D9E06DD-E72B-DA42-9CB9-CC982549061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51284726"/>
                  </p:ext>
                </p:extLst>
              </p:nvPr>
            </p:nvGraphicFramePr>
            <p:xfrm rot="16200000">
              <a:off x="2917843" y="-4282430"/>
              <a:ext cx="7719142" cy="11194465"/>
            </p:xfrm>
            <a:graphic>
              <a:graphicData uri="http://schemas.microsoft.com/office/drawing/2017/model3d">
                <am3d:model3d r:embed="rId3">
                  <am3d:spPr>
                    <a:xfrm rot="16200000">
                      <a:off x="0" y="0"/>
                      <a:ext cx="7719142" cy="11194465"/>
                    </a:xfrm>
                    <a:prstGeom prst="rect">
                      <a:avLst/>
                    </a:prstGeom>
                  </am3d:spPr>
                  <am3d:camera>
                    <am3d:pos x="0" y="0" z="613647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79330" d="1000000"/>
                    <am3d:preTrans dx="39054212" dy="-3537462" dz="7089004"/>
                    <am3d:scale>
                      <am3d:sx n="1000000" d="1000000"/>
                      <am3d:sy n="1000000" d="1000000"/>
                      <am3d:sz n="1000000" d="1000000"/>
                    </am3d:scale>
                    <am3d:rot ax="6633239" ay="-4331998" az="-6651407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2912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3D Model 18">
                <a:extLst>
                  <a:ext uri="{FF2B5EF4-FFF2-40B4-BE49-F238E27FC236}">
                    <a16:creationId xmlns:a16="http://schemas.microsoft.com/office/drawing/2014/main" id="{6D9E06DD-E72B-DA42-9CB9-CC98254906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6200000">
                <a:off x="2917843" y="-4282430"/>
                <a:ext cx="7719142" cy="11194465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2686339-9939-8665-D825-D4433F8CA4D3}"/>
              </a:ext>
            </a:extLst>
          </p:cNvPr>
          <p:cNvSpPr/>
          <p:nvPr/>
        </p:nvSpPr>
        <p:spPr>
          <a:xfrm>
            <a:off x="-284136" y="-132583"/>
            <a:ext cx="12476136" cy="7137817"/>
          </a:xfrm>
          <a:custGeom>
            <a:avLst/>
            <a:gdLst>
              <a:gd name="connsiteX0" fmla="*/ 7603531 w 12476136"/>
              <a:gd name="connsiteY0" fmla="*/ 403803 h 7137817"/>
              <a:gd name="connsiteX1" fmla="*/ 6707466 w 12476136"/>
              <a:gd name="connsiteY1" fmla="*/ 1299868 h 7137817"/>
              <a:gd name="connsiteX2" fmla="*/ 6707466 w 12476136"/>
              <a:gd name="connsiteY2" fmla="*/ 5862043 h 7137817"/>
              <a:gd name="connsiteX3" fmla="*/ 7603531 w 12476136"/>
              <a:gd name="connsiteY3" fmla="*/ 6758108 h 7137817"/>
              <a:gd name="connsiteX4" fmla="*/ 11187681 w 12476136"/>
              <a:gd name="connsiteY4" fmla="*/ 6758108 h 7137817"/>
              <a:gd name="connsiteX5" fmla="*/ 12083746 w 12476136"/>
              <a:gd name="connsiteY5" fmla="*/ 5862043 h 7137817"/>
              <a:gd name="connsiteX6" fmla="*/ 12083746 w 12476136"/>
              <a:gd name="connsiteY6" fmla="*/ 1299868 h 7137817"/>
              <a:gd name="connsiteX7" fmla="*/ 11187681 w 12476136"/>
              <a:gd name="connsiteY7" fmla="*/ 403803 h 7137817"/>
              <a:gd name="connsiteX8" fmla="*/ 0 w 12476136"/>
              <a:gd name="connsiteY8" fmla="*/ 0 h 7137817"/>
              <a:gd name="connsiteX9" fmla="*/ 12476136 w 12476136"/>
              <a:gd name="connsiteY9" fmla="*/ 0 h 7137817"/>
              <a:gd name="connsiteX10" fmla="*/ 12476136 w 12476136"/>
              <a:gd name="connsiteY10" fmla="*/ 7137817 h 7137817"/>
              <a:gd name="connsiteX11" fmla="*/ 0 w 12476136"/>
              <a:gd name="connsiteY11" fmla="*/ 7137817 h 713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476136" h="7137817">
                <a:moveTo>
                  <a:pt x="7603531" y="403803"/>
                </a:moveTo>
                <a:cubicBezTo>
                  <a:pt x="7108648" y="403803"/>
                  <a:pt x="6707466" y="804985"/>
                  <a:pt x="6707466" y="1299868"/>
                </a:cubicBezTo>
                <a:lnTo>
                  <a:pt x="6707466" y="5862043"/>
                </a:lnTo>
                <a:cubicBezTo>
                  <a:pt x="6707466" y="6356926"/>
                  <a:pt x="7108648" y="6758108"/>
                  <a:pt x="7603531" y="6758108"/>
                </a:cubicBezTo>
                <a:lnTo>
                  <a:pt x="11187681" y="6758108"/>
                </a:lnTo>
                <a:cubicBezTo>
                  <a:pt x="11682564" y="6758108"/>
                  <a:pt x="12083746" y="6356926"/>
                  <a:pt x="12083746" y="5862043"/>
                </a:cubicBezTo>
                <a:lnTo>
                  <a:pt x="12083746" y="1299868"/>
                </a:lnTo>
                <a:cubicBezTo>
                  <a:pt x="12083746" y="804985"/>
                  <a:pt x="11682564" y="403803"/>
                  <a:pt x="11187681" y="403803"/>
                </a:cubicBezTo>
                <a:close/>
                <a:moveTo>
                  <a:pt x="0" y="0"/>
                </a:moveTo>
                <a:lnTo>
                  <a:pt x="12476136" y="0"/>
                </a:lnTo>
                <a:lnTo>
                  <a:pt x="12476136" y="7137817"/>
                </a:lnTo>
                <a:lnTo>
                  <a:pt x="0" y="7137817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B89B0C-7E06-4748-8C06-AE8E4DCD77D5}"/>
              </a:ext>
            </a:extLst>
          </p:cNvPr>
          <p:cNvGrpSpPr/>
          <p:nvPr/>
        </p:nvGrpSpPr>
        <p:grpSpPr>
          <a:xfrm>
            <a:off x="152400" y="259172"/>
            <a:ext cx="5376280" cy="6354305"/>
            <a:chOff x="152400" y="259172"/>
            <a:chExt cx="5376280" cy="635430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0F22AA7-DDED-6710-2635-59F40B944DAF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84638F4-16EC-5FEE-7BFA-682A979D9771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Provides a stable interface between</a:t>
              </a:r>
              <a:br>
                <a:rPr lang="en-US" dirty="0"/>
              </a:br>
              <a:r>
                <a:rPr lang="en-US" dirty="0"/>
                <a:t>the scissor leg support and base</a:t>
              </a:r>
              <a:br>
                <a:rPr lang="en-US" dirty="0"/>
              </a:br>
              <a:r>
                <a:rPr lang="en-US" dirty="0"/>
                <a:t>plate allowing smooth rotation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b="1" dirty="0"/>
                <a:t>Cast Alloy Steel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Selected for its durability and ability to withstand cyclic loads.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5CB5576-27FA-32AD-143D-D8F08883747E}"/>
                </a:ext>
              </a:extLst>
            </p:cNvPr>
            <p:cNvSpPr txBox="1"/>
            <p:nvPr/>
          </p:nvSpPr>
          <p:spPr>
            <a:xfrm>
              <a:off x="1112217" y="492664"/>
              <a:ext cx="34566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Bush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8FD52E9-8D0E-68F8-0E44-DDE135E61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72" b="5872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49CA86-C7BC-D91C-685C-4F5EC2587A33}"/>
              </a:ext>
            </a:extLst>
          </p:cNvPr>
          <p:cNvGrpSpPr/>
          <p:nvPr/>
        </p:nvGrpSpPr>
        <p:grpSpPr>
          <a:xfrm>
            <a:off x="152400" y="-6603634"/>
            <a:ext cx="5376280" cy="6354305"/>
            <a:chOff x="152400" y="259172"/>
            <a:chExt cx="5376280" cy="635430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F84DE33-4DAC-2B40-6F84-365D0F4FCAC5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9F5E604-0547-602C-0BD1-5F806C0311CC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Acts as a point joint connecting</a:t>
              </a:r>
              <a:br>
                <a:rPr lang="en-US" dirty="0"/>
              </a:br>
              <a:r>
                <a:rPr lang="en-US" dirty="0"/>
                <a:t>the scissor leg supports enabling</a:t>
              </a:r>
              <a:br>
                <a:rPr lang="en-US" dirty="0"/>
              </a:br>
              <a:r>
                <a:rPr lang="en-US" dirty="0"/>
                <a:t>smooth pivoting motion and stable</a:t>
              </a:r>
              <a:br>
                <a:rPr lang="en-US" dirty="0"/>
              </a:br>
              <a:r>
                <a:rPr lang="en-US" dirty="0"/>
                <a:t>load transfer during operation.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b="1" dirty="0"/>
                <a:t>Alloy Steel (SS)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Chosen for its high strength and wear resistance.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15722F-369D-7973-6B5E-2D7F06BB7277}"/>
                </a:ext>
              </a:extLst>
            </p:cNvPr>
            <p:cNvSpPr txBox="1"/>
            <p:nvPr/>
          </p:nvSpPr>
          <p:spPr>
            <a:xfrm>
              <a:off x="1112217" y="492664"/>
              <a:ext cx="34566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Pin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D156B7E-8410-971F-AC5D-7A807F81D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09" b="1809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667AB37-520F-81E7-DE96-FB7B9259E12D}"/>
              </a:ext>
            </a:extLst>
          </p:cNvPr>
          <p:cNvGrpSpPr/>
          <p:nvPr/>
        </p:nvGrpSpPr>
        <p:grpSpPr>
          <a:xfrm>
            <a:off x="152400" y="7586566"/>
            <a:ext cx="5376280" cy="6354305"/>
            <a:chOff x="152400" y="251847"/>
            <a:chExt cx="5376280" cy="635430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38CB5AB-DFA8-9351-5772-295FE6EBBF24}"/>
                </a:ext>
              </a:extLst>
            </p:cNvPr>
            <p:cNvGrpSpPr/>
            <p:nvPr/>
          </p:nvGrpSpPr>
          <p:grpSpPr>
            <a:xfrm>
              <a:off x="152400" y="251847"/>
              <a:ext cx="5376280" cy="6354305"/>
              <a:chOff x="152400" y="259172"/>
              <a:chExt cx="5376280" cy="6354305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9E2B4346-407D-C3E4-6EA7-02284F70819E}"/>
                  </a:ext>
                </a:extLst>
              </p:cNvPr>
              <p:cNvSpPr/>
              <p:nvPr/>
            </p:nvSpPr>
            <p:spPr>
              <a:xfrm>
                <a:off x="152400" y="259172"/>
                <a:ext cx="5376280" cy="6354305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C46B66F-DACE-77A6-42D4-6E32B270CD2C}"/>
                  </a:ext>
                </a:extLst>
              </p:cNvPr>
              <p:cNvSpPr txBox="1"/>
              <p:nvPr/>
            </p:nvSpPr>
            <p:spPr>
              <a:xfrm>
                <a:off x="571500" y="3429000"/>
                <a:ext cx="495718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Secures axial position between the</a:t>
                </a:r>
                <a:br>
                  <a:rPr lang="en-US" dirty="0"/>
                </a:br>
                <a:r>
                  <a:rPr lang="en-US" dirty="0"/>
                  <a:t>lead screw and cylindrical support</a:t>
                </a:r>
                <a:br>
                  <a:rPr lang="en-US" dirty="0"/>
                </a:br>
                <a:r>
                  <a:rPr lang="en-US" dirty="0"/>
                  <a:t>preventing unwanted movement while</a:t>
                </a:r>
                <a:br>
                  <a:rPr lang="en-US" dirty="0"/>
                </a:br>
                <a:r>
                  <a:rPr lang="en-US" dirty="0"/>
                  <a:t>allowing smooth rotational action.</a:t>
                </a:r>
              </a:p>
              <a:p>
                <a:r>
                  <a:rPr lang="en-US" b="1" dirty="0"/>
                  <a:t>Material Selection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b="1" dirty="0"/>
                  <a:t>AISI 1020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Chosen for its strength and reliable performance in retaining applications.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A6C2235-8015-0394-F11B-9C99E0CC05A7}"/>
                  </a:ext>
                </a:extLst>
              </p:cNvPr>
              <p:cNvSpPr txBox="1"/>
              <p:nvPr/>
            </p:nvSpPr>
            <p:spPr>
              <a:xfrm>
                <a:off x="1112217" y="492664"/>
                <a:ext cx="345664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latin typeface="Adobe Gothic Std B" panose="020B0800000000000000" pitchFamily="34" charset="-128"/>
                    <a:ea typeface="Adobe Gothic Std B" panose="020B0800000000000000" pitchFamily="34" charset="-128"/>
                  </a:rPr>
                  <a:t>Circlip</a:t>
                </a:r>
                <a:endParaRPr lang="en-IN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</p:grp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B484BD0-7B4F-F77D-0DC9-0DB11AF75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3210" y="1086036"/>
              <a:ext cx="2724530" cy="21434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595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EBC07-2BBD-93CF-ADB4-46773A627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3D Model 18">
                <a:extLst>
                  <a:ext uri="{FF2B5EF4-FFF2-40B4-BE49-F238E27FC236}">
                    <a16:creationId xmlns:a16="http://schemas.microsoft.com/office/drawing/2014/main" id="{D4EEC308-D373-7F44-7EF4-8A644A12DE9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12134262"/>
                  </p:ext>
                </p:extLst>
              </p:nvPr>
            </p:nvGraphicFramePr>
            <p:xfrm rot="16200000">
              <a:off x="-817511" y="-5970979"/>
              <a:ext cx="15607698" cy="18785307"/>
            </p:xfrm>
            <a:graphic>
              <a:graphicData uri="http://schemas.microsoft.com/office/drawing/2017/model3d">
                <am3d:model3d r:embed="rId3">
                  <am3d:spPr>
                    <a:xfrm rot="16200000">
                      <a:off x="0" y="0"/>
                      <a:ext cx="15607698" cy="18785307"/>
                    </a:xfrm>
                    <a:prstGeom prst="rect">
                      <a:avLst/>
                    </a:prstGeom>
                  </am3d:spPr>
                  <am3d:camera>
                    <am3d:pos x="0" y="0" z="613647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79330" d="1000000"/>
                    <am3d:preTrans dx="39054212" dy="-3537462" dz="7089004"/>
                    <am3d:scale>
                      <am3d:sx n="1000000" d="1000000"/>
                      <am3d:sy n="1000000" d="1000000"/>
                      <am3d:sz n="1000000" d="1000000"/>
                    </am3d:scale>
                    <am3d:rot ax="-5366969" ay="-1442403" az="5408952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344584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3D Model 18">
                <a:extLst>
                  <a:ext uri="{FF2B5EF4-FFF2-40B4-BE49-F238E27FC236}">
                    <a16:creationId xmlns:a16="http://schemas.microsoft.com/office/drawing/2014/main" id="{D4EEC308-D373-7F44-7EF4-8A644A12DE9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6200000">
                <a:off x="-817511" y="-5970979"/>
                <a:ext cx="15607698" cy="18785307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4AFC6A2-7B2F-6547-3352-B4AC392B7E40}"/>
              </a:ext>
            </a:extLst>
          </p:cNvPr>
          <p:cNvSpPr/>
          <p:nvPr/>
        </p:nvSpPr>
        <p:spPr>
          <a:xfrm>
            <a:off x="-284136" y="-132583"/>
            <a:ext cx="12476136" cy="7137817"/>
          </a:xfrm>
          <a:custGeom>
            <a:avLst/>
            <a:gdLst>
              <a:gd name="connsiteX0" fmla="*/ 7603531 w 12476136"/>
              <a:gd name="connsiteY0" fmla="*/ 403803 h 7137817"/>
              <a:gd name="connsiteX1" fmla="*/ 6707466 w 12476136"/>
              <a:gd name="connsiteY1" fmla="*/ 1299868 h 7137817"/>
              <a:gd name="connsiteX2" fmla="*/ 6707466 w 12476136"/>
              <a:gd name="connsiteY2" fmla="*/ 5862043 h 7137817"/>
              <a:gd name="connsiteX3" fmla="*/ 7603531 w 12476136"/>
              <a:gd name="connsiteY3" fmla="*/ 6758108 h 7137817"/>
              <a:gd name="connsiteX4" fmla="*/ 11187681 w 12476136"/>
              <a:gd name="connsiteY4" fmla="*/ 6758108 h 7137817"/>
              <a:gd name="connsiteX5" fmla="*/ 12083746 w 12476136"/>
              <a:gd name="connsiteY5" fmla="*/ 5862043 h 7137817"/>
              <a:gd name="connsiteX6" fmla="*/ 12083746 w 12476136"/>
              <a:gd name="connsiteY6" fmla="*/ 1299868 h 7137817"/>
              <a:gd name="connsiteX7" fmla="*/ 11187681 w 12476136"/>
              <a:gd name="connsiteY7" fmla="*/ 403803 h 7137817"/>
              <a:gd name="connsiteX8" fmla="*/ 0 w 12476136"/>
              <a:gd name="connsiteY8" fmla="*/ 0 h 7137817"/>
              <a:gd name="connsiteX9" fmla="*/ 12476136 w 12476136"/>
              <a:gd name="connsiteY9" fmla="*/ 0 h 7137817"/>
              <a:gd name="connsiteX10" fmla="*/ 12476136 w 12476136"/>
              <a:gd name="connsiteY10" fmla="*/ 7137817 h 7137817"/>
              <a:gd name="connsiteX11" fmla="*/ 0 w 12476136"/>
              <a:gd name="connsiteY11" fmla="*/ 7137817 h 713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476136" h="7137817">
                <a:moveTo>
                  <a:pt x="7603531" y="403803"/>
                </a:moveTo>
                <a:cubicBezTo>
                  <a:pt x="7108648" y="403803"/>
                  <a:pt x="6707466" y="804985"/>
                  <a:pt x="6707466" y="1299868"/>
                </a:cubicBezTo>
                <a:lnTo>
                  <a:pt x="6707466" y="5862043"/>
                </a:lnTo>
                <a:cubicBezTo>
                  <a:pt x="6707466" y="6356926"/>
                  <a:pt x="7108648" y="6758108"/>
                  <a:pt x="7603531" y="6758108"/>
                </a:cubicBezTo>
                <a:lnTo>
                  <a:pt x="11187681" y="6758108"/>
                </a:lnTo>
                <a:cubicBezTo>
                  <a:pt x="11682564" y="6758108"/>
                  <a:pt x="12083746" y="6356926"/>
                  <a:pt x="12083746" y="5862043"/>
                </a:cubicBezTo>
                <a:lnTo>
                  <a:pt x="12083746" y="1299868"/>
                </a:lnTo>
                <a:cubicBezTo>
                  <a:pt x="12083746" y="804985"/>
                  <a:pt x="11682564" y="403803"/>
                  <a:pt x="11187681" y="403803"/>
                </a:cubicBezTo>
                <a:close/>
                <a:moveTo>
                  <a:pt x="0" y="0"/>
                </a:moveTo>
                <a:lnTo>
                  <a:pt x="12476136" y="0"/>
                </a:lnTo>
                <a:lnTo>
                  <a:pt x="12476136" y="7137817"/>
                </a:lnTo>
                <a:lnTo>
                  <a:pt x="0" y="7137817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82736C3-FBAD-A176-061D-53E791A121E4}"/>
              </a:ext>
            </a:extLst>
          </p:cNvPr>
          <p:cNvGrpSpPr/>
          <p:nvPr/>
        </p:nvGrpSpPr>
        <p:grpSpPr>
          <a:xfrm>
            <a:off x="152400" y="251847"/>
            <a:ext cx="5376280" cy="6354305"/>
            <a:chOff x="152400" y="251847"/>
            <a:chExt cx="5376280" cy="635430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BB3BC8D-8DEF-2B15-DDC6-41C85C2C0152}"/>
                </a:ext>
              </a:extLst>
            </p:cNvPr>
            <p:cNvGrpSpPr/>
            <p:nvPr/>
          </p:nvGrpSpPr>
          <p:grpSpPr>
            <a:xfrm>
              <a:off x="152400" y="251847"/>
              <a:ext cx="5376280" cy="6354305"/>
              <a:chOff x="152400" y="259172"/>
              <a:chExt cx="5376280" cy="6354305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9485E814-5B9C-2B37-82C2-BC8BD79DB675}"/>
                  </a:ext>
                </a:extLst>
              </p:cNvPr>
              <p:cNvSpPr/>
              <p:nvPr/>
            </p:nvSpPr>
            <p:spPr>
              <a:xfrm>
                <a:off x="152400" y="259172"/>
                <a:ext cx="5376280" cy="6354305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C038297-D2AC-B3F8-CAA8-6ED9A45E60C3}"/>
                  </a:ext>
                </a:extLst>
              </p:cNvPr>
              <p:cNvSpPr txBox="1"/>
              <p:nvPr/>
            </p:nvSpPr>
            <p:spPr>
              <a:xfrm>
                <a:off x="571500" y="3429000"/>
                <a:ext cx="495718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Secures axial position between the</a:t>
                </a:r>
                <a:br>
                  <a:rPr lang="en-US" dirty="0"/>
                </a:br>
                <a:r>
                  <a:rPr lang="en-US" dirty="0"/>
                  <a:t>lead screw and cylindrical support</a:t>
                </a:r>
                <a:br>
                  <a:rPr lang="en-US" dirty="0"/>
                </a:br>
                <a:r>
                  <a:rPr lang="en-US" dirty="0"/>
                  <a:t>preventing unwanted movement while</a:t>
                </a:r>
                <a:br>
                  <a:rPr lang="en-US" dirty="0"/>
                </a:br>
                <a:r>
                  <a:rPr lang="en-US" dirty="0"/>
                  <a:t>allowing smooth rotational action.</a:t>
                </a:r>
              </a:p>
              <a:p>
                <a:r>
                  <a:rPr lang="en-US" b="1" dirty="0"/>
                  <a:t>Material Selection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b="1" dirty="0"/>
                  <a:t>AISI 1020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Chosen for its strength and reliable performance in retaining applications.</a:t>
                </a: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F2B972-50BD-D75F-5239-0725CABDBCDE}"/>
                  </a:ext>
                </a:extLst>
              </p:cNvPr>
              <p:cNvSpPr txBox="1"/>
              <p:nvPr/>
            </p:nvSpPr>
            <p:spPr>
              <a:xfrm>
                <a:off x="1112217" y="492664"/>
                <a:ext cx="345664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latin typeface="Adobe Gothic Std B" panose="020B0800000000000000" pitchFamily="34" charset="-128"/>
                    <a:ea typeface="Adobe Gothic Std B" panose="020B0800000000000000" pitchFamily="34" charset="-128"/>
                  </a:rPr>
                  <a:t>Circlip</a:t>
                </a:r>
                <a:endParaRPr lang="en-IN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7B5D4B0-5AA3-30C6-7945-3E4047720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3210" y="1086036"/>
              <a:ext cx="2724530" cy="2143424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5B1EBE1-83A5-EB31-B6CF-5D00F718F094}"/>
              </a:ext>
            </a:extLst>
          </p:cNvPr>
          <p:cNvGrpSpPr/>
          <p:nvPr/>
        </p:nvGrpSpPr>
        <p:grpSpPr>
          <a:xfrm>
            <a:off x="207335" y="-7075524"/>
            <a:ext cx="5376280" cy="6354305"/>
            <a:chOff x="152400" y="259172"/>
            <a:chExt cx="5376280" cy="635430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C8CC7E4-6F78-12F7-FB01-799D445E720B}"/>
                </a:ext>
              </a:extLst>
            </p:cNvPr>
            <p:cNvSpPr/>
            <p:nvPr/>
          </p:nvSpPr>
          <p:spPr>
            <a:xfrm>
              <a:off x="152400" y="259172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D1FC97-9955-F3B6-26B4-75122A7CD3CE}"/>
                </a:ext>
              </a:extLst>
            </p:cNvPr>
            <p:cNvSpPr txBox="1"/>
            <p:nvPr/>
          </p:nvSpPr>
          <p:spPr>
            <a:xfrm>
              <a:off x="571500" y="3429000"/>
              <a:ext cx="495718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Function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Provides a stable interface between</a:t>
              </a:r>
              <a:br>
                <a:rPr lang="en-US" dirty="0"/>
              </a:br>
              <a:r>
                <a:rPr lang="en-US" dirty="0"/>
                <a:t>the scissor leg support and base</a:t>
              </a:r>
              <a:br>
                <a:rPr lang="en-US" dirty="0"/>
              </a:br>
              <a:r>
                <a:rPr lang="en-US" dirty="0"/>
                <a:t>plate allowing smooth rotation</a:t>
              </a:r>
            </a:p>
            <a:p>
              <a:r>
                <a:rPr lang="en-US" b="1" dirty="0"/>
                <a:t>Material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b="1" dirty="0"/>
                <a:t>Cast Alloy Steel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Selected for its durability and ability to withstand cyclic loads.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016B24E-0626-7D3B-9682-C63B9F976C3D}"/>
                </a:ext>
              </a:extLst>
            </p:cNvPr>
            <p:cNvSpPr txBox="1"/>
            <p:nvPr/>
          </p:nvSpPr>
          <p:spPr>
            <a:xfrm>
              <a:off x="1112217" y="492664"/>
              <a:ext cx="34566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Bush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068A67E-0473-6617-C67E-99F40C389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72" b="5872"/>
            <a:stretch/>
          </p:blipFill>
          <p:spPr>
            <a:xfrm>
              <a:off x="1180180" y="1201614"/>
              <a:ext cx="3320717" cy="2055178"/>
            </a:xfrm>
            <a:prstGeom prst="round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D59FF4A-2CFA-9D77-9C42-EB042D07A878}"/>
              </a:ext>
            </a:extLst>
          </p:cNvPr>
          <p:cNvGrpSpPr/>
          <p:nvPr/>
        </p:nvGrpSpPr>
        <p:grpSpPr>
          <a:xfrm>
            <a:off x="152397" y="7389664"/>
            <a:ext cx="5376280" cy="6354305"/>
            <a:chOff x="152400" y="251847"/>
            <a:chExt cx="5376280" cy="6354305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A024473-4BFD-73F5-0B57-5458DE7C76AB}"/>
                </a:ext>
              </a:extLst>
            </p:cNvPr>
            <p:cNvSpPr/>
            <p:nvPr/>
          </p:nvSpPr>
          <p:spPr>
            <a:xfrm>
              <a:off x="152400" y="251847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FFB6DBB-7A56-1701-B21C-3642CEAA2EEC}"/>
                </a:ext>
              </a:extLst>
            </p:cNvPr>
            <p:cNvSpPr txBox="1"/>
            <p:nvPr/>
          </p:nvSpPr>
          <p:spPr>
            <a:xfrm>
              <a:off x="571500" y="1155813"/>
              <a:ext cx="495718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The assembly integrates all components into a coordinated scissor-lift mechanism that converts rotational input into stable vertical motion.</a:t>
              </a:r>
              <a:br>
                <a:rPr lang="en-US" dirty="0"/>
              </a:br>
              <a:r>
                <a:rPr lang="en-US" dirty="0"/>
                <a:t>Each part is fitted with precise clearances and selected materials to ensure smooth operation, structural reliability, and long-term durability.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AE59B23-E18D-9D21-212A-DDC25A8C404B}"/>
                </a:ext>
              </a:extLst>
            </p:cNvPr>
            <p:cNvSpPr txBox="1"/>
            <p:nvPr/>
          </p:nvSpPr>
          <p:spPr>
            <a:xfrm>
              <a:off x="1112217" y="485339"/>
              <a:ext cx="34566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Assembly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4324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EB288-2264-EE17-338F-42A0E8DE7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cissor lift motion study">
            <a:hlinkClick r:id="" action="ppaction://media"/>
            <a:extLst>
              <a:ext uri="{FF2B5EF4-FFF2-40B4-BE49-F238E27FC236}">
                <a16:creationId xmlns:a16="http://schemas.microsoft.com/office/drawing/2014/main" id="{584384D2-4DCB-D7C0-AC3A-3AC8155083BB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7736" end="5844.6666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2400" y="1264113"/>
            <a:ext cx="15813159" cy="4793364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F9DA3FA-3B0A-3029-D66D-8C728DEF54CE}"/>
              </a:ext>
            </a:extLst>
          </p:cNvPr>
          <p:cNvSpPr/>
          <p:nvPr/>
        </p:nvSpPr>
        <p:spPr>
          <a:xfrm>
            <a:off x="-284136" y="-132583"/>
            <a:ext cx="12476136" cy="7137817"/>
          </a:xfrm>
          <a:custGeom>
            <a:avLst/>
            <a:gdLst>
              <a:gd name="connsiteX0" fmla="*/ 7603531 w 12476136"/>
              <a:gd name="connsiteY0" fmla="*/ 403803 h 7137817"/>
              <a:gd name="connsiteX1" fmla="*/ 6707466 w 12476136"/>
              <a:gd name="connsiteY1" fmla="*/ 1299868 h 7137817"/>
              <a:gd name="connsiteX2" fmla="*/ 6707466 w 12476136"/>
              <a:gd name="connsiteY2" fmla="*/ 5862043 h 7137817"/>
              <a:gd name="connsiteX3" fmla="*/ 7603531 w 12476136"/>
              <a:gd name="connsiteY3" fmla="*/ 6758108 h 7137817"/>
              <a:gd name="connsiteX4" fmla="*/ 11187681 w 12476136"/>
              <a:gd name="connsiteY4" fmla="*/ 6758108 h 7137817"/>
              <a:gd name="connsiteX5" fmla="*/ 12083746 w 12476136"/>
              <a:gd name="connsiteY5" fmla="*/ 5862043 h 7137817"/>
              <a:gd name="connsiteX6" fmla="*/ 12083746 w 12476136"/>
              <a:gd name="connsiteY6" fmla="*/ 1299868 h 7137817"/>
              <a:gd name="connsiteX7" fmla="*/ 11187681 w 12476136"/>
              <a:gd name="connsiteY7" fmla="*/ 403803 h 7137817"/>
              <a:gd name="connsiteX8" fmla="*/ 0 w 12476136"/>
              <a:gd name="connsiteY8" fmla="*/ 0 h 7137817"/>
              <a:gd name="connsiteX9" fmla="*/ 12476136 w 12476136"/>
              <a:gd name="connsiteY9" fmla="*/ 0 h 7137817"/>
              <a:gd name="connsiteX10" fmla="*/ 12476136 w 12476136"/>
              <a:gd name="connsiteY10" fmla="*/ 7137817 h 7137817"/>
              <a:gd name="connsiteX11" fmla="*/ 0 w 12476136"/>
              <a:gd name="connsiteY11" fmla="*/ 7137817 h 713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476136" h="7137817">
                <a:moveTo>
                  <a:pt x="7603531" y="403803"/>
                </a:moveTo>
                <a:cubicBezTo>
                  <a:pt x="7108648" y="403803"/>
                  <a:pt x="6707466" y="804985"/>
                  <a:pt x="6707466" y="1299868"/>
                </a:cubicBezTo>
                <a:lnTo>
                  <a:pt x="6707466" y="5862043"/>
                </a:lnTo>
                <a:cubicBezTo>
                  <a:pt x="6707466" y="6356926"/>
                  <a:pt x="7108648" y="6758108"/>
                  <a:pt x="7603531" y="6758108"/>
                </a:cubicBezTo>
                <a:lnTo>
                  <a:pt x="11187681" y="6758108"/>
                </a:lnTo>
                <a:cubicBezTo>
                  <a:pt x="11682564" y="6758108"/>
                  <a:pt x="12083746" y="6356926"/>
                  <a:pt x="12083746" y="5862043"/>
                </a:cubicBezTo>
                <a:lnTo>
                  <a:pt x="12083746" y="1299868"/>
                </a:lnTo>
                <a:cubicBezTo>
                  <a:pt x="12083746" y="804985"/>
                  <a:pt x="11682564" y="403803"/>
                  <a:pt x="11187681" y="403803"/>
                </a:cubicBezTo>
                <a:close/>
                <a:moveTo>
                  <a:pt x="0" y="0"/>
                </a:moveTo>
                <a:lnTo>
                  <a:pt x="12476136" y="0"/>
                </a:lnTo>
                <a:lnTo>
                  <a:pt x="12476136" y="7137817"/>
                </a:lnTo>
                <a:lnTo>
                  <a:pt x="0" y="7137817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A68422-CABA-2C6B-A068-6812C1EA8A61}"/>
              </a:ext>
            </a:extLst>
          </p:cNvPr>
          <p:cNvGrpSpPr/>
          <p:nvPr/>
        </p:nvGrpSpPr>
        <p:grpSpPr>
          <a:xfrm>
            <a:off x="152400" y="251847"/>
            <a:ext cx="5376280" cy="6354305"/>
            <a:chOff x="152400" y="251847"/>
            <a:chExt cx="5376280" cy="635430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6E81FB2-C5A1-DA30-0CB3-AF476A7907C2}"/>
                </a:ext>
              </a:extLst>
            </p:cNvPr>
            <p:cNvSpPr/>
            <p:nvPr/>
          </p:nvSpPr>
          <p:spPr>
            <a:xfrm>
              <a:off x="152400" y="251847"/>
              <a:ext cx="5376280" cy="63543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B57E40-9021-2164-5DFB-DB3BAEE1DC3D}"/>
                </a:ext>
              </a:extLst>
            </p:cNvPr>
            <p:cNvSpPr txBox="1"/>
            <p:nvPr/>
          </p:nvSpPr>
          <p:spPr>
            <a:xfrm>
              <a:off x="571500" y="1155813"/>
              <a:ext cx="495718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The assembly integrates all components into a coordinated scissor-lift mechanism that converts rotational input into stable vertical motion.</a:t>
              </a:r>
              <a:br>
                <a:rPr lang="en-US" dirty="0"/>
              </a:br>
              <a:r>
                <a:rPr lang="en-US" dirty="0"/>
                <a:t>Each part is fitted with precise clearances and selected materials to ensure smooth operation, structural reliability, and long-term durability.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FE6C58D-FB4C-AF65-14B4-7C3A5BDA396C}"/>
                </a:ext>
              </a:extLst>
            </p:cNvPr>
            <p:cNvSpPr txBox="1"/>
            <p:nvPr/>
          </p:nvSpPr>
          <p:spPr>
            <a:xfrm>
              <a:off x="1112217" y="485339"/>
              <a:ext cx="34566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Assembly</a:t>
              </a:r>
              <a:endParaRPr lang="en-IN" sz="2800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102779A-551D-12A0-1058-7FE23B7CC40D}"/>
              </a:ext>
            </a:extLst>
          </p:cNvPr>
          <p:cNvGrpSpPr/>
          <p:nvPr/>
        </p:nvGrpSpPr>
        <p:grpSpPr>
          <a:xfrm>
            <a:off x="152400" y="-6679103"/>
            <a:ext cx="5376280" cy="6354305"/>
            <a:chOff x="152400" y="251847"/>
            <a:chExt cx="5376280" cy="63543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5835080-1137-28B1-4B8A-D8A9BF79A7E3}"/>
                </a:ext>
              </a:extLst>
            </p:cNvPr>
            <p:cNvGrpSpPr/>
            <p:nvPr/>
          </p:nvGrpSpPr>
          <p:grpSpPr>
            <a:xfrm>
              <a:off x="152400" y="251847"/>
              <a:ext cx="5376280" cy="6354305"/>
              <a:chOff x="152400" y="259172"/>
              <a:chExt cx="5376280" cy="6354305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7B98D0FC-40C9-03EF-5EC2-B2C4BBD47979}"/>
                  </a:ext>
                </a:extLst>
              </p:cNvPr>
              <p:cNvSpPr/>
              <p:nvPr/>
            </p:nvSpPr>
            <p:spPr>
              <a:xfrm>
                <a:off x="152400" y="259172"/>
                <a:ext cx="5376280" cy="6354305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095E615-539B-471E-E8C7-3DCFBA140ECD}"/>
                  </a:ext>
                </a:extLst>
              </p:cNvPr>
              <p:cNvSpPr txBox="1"/>
              <p:nvPr/>
            </p:nvSpPr>
            <p:spPr>
              <a:xfrm>
                <a:off x="571500" y="3429000"/>
                <a:ext cx="495718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Secures axial position between the</a:t>
                </a:r>
                <a:br>
                  <a:rPr lang="en-US" dirty="0"/>
                </a:br>
                <a:r>
                  <a:rPr lang="en-US" dirty="0"/>
                  <a:t>lead screw and cylindrical support</a:t>
                </a:r>
                <a:br>
                  <a:rPr lang="en-US" dirty="0"/>
                </a:br>
                <a:r>
                  <a:rPr lang="en-US" dirty="0"/>
                  <a:t>preventing unwanted movement while</a:t>
                </a:r>
                <a:br>
                  <a:rPr lang="en-US" dirty="0"/>
                </a:br>
                <a:r>
                  <a:rPr lang="en-US" dirty="0"/>
                  <a:t>allowing smooth rotational action.</a:t>
                </a:r>
              </a:p>
              <a:p>
                <a:r>
                  <a:rPr lang="en-US" b="1" dirty="0"/>
                  <a:t>Material Selection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b="1" dirty="0"/>
                  <a:t>AISI 1020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Chosen for its strength and reliable performance in retaining applications.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E9F4D6-546B-6C51-99BF-0516339A03F0}"/>
                  </a:ext>
                </a:extLst>
              </p:cNvPr>
              <p:cNvSpPr txBox="1"/>
              <p:nvPr/>
            </p:nvSpPr>
            <p:spPr>
              <a:xfrm>
                <a:off x="1112217" y="492664"/>
                <a:ext cx="345664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latin typeface="Adobe Gothic Std B" panose="020B0800000000000000" pitchFamily="34" charset="-128"/>
                    <a:ea typeface="Adobe Gothic Std B" panose="020B0800000000000000" pitchFamily="34" charset="-128"/>
                  </a:rPr>
                  <a:t>Circlip</a:t>
                </a:r>
                <a:endParaRPr lang="en-IN" sz="28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DE4B19-6F80-7F1F-96D2-B774DA192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3210" y="1086036"/>
              <a:ext cx="2724530" cy="21434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737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6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4047AAE-910E-6CFE-90D1-1068595686E8}"/>
              </a:ext>
            </a:extLst>
          </p:cNvPr>
          <p:cNvSpPr/>
          <p:nvPr/>
        </p:nvSpPr>
        <p:spPr>
          <a:xfrm>
            <a:off x="268014" y="220717"/>
            <a:ext cx="5370786" cy="818374"/>
          </a:xfrm>
          <a:prstGeom prst="roundRect">
            <a:avLst/>
          </a:prstGeom>
          <a:solidFill>
            <a:srgbClr val="3B38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DA2E9D-E148-4091-C894-07DDD7172F76}"/>
              </a:ext>
            </a:extLst>
          </p:cNvPr>
          <p:cNvSpPr txBox="1"/>
          <p:nvPr/>
        </p:nvSpPr>
        <p:spPr>
          <a:xfrm>
            <a:off x="525756" y="336377"/>
            <a:ext cx="5376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lgerian" panose="04020705040A02060702" pitchFamily="82" charset="0"/>
              </a:rPr>
              <a:t>CALCULATIONs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1CD907-8AB0-224F-1DFD-006FAE13B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1" y="1291655"/>
            <a:ext cx="6378165" cy="49445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3B696B-09CC-09F5-5053-992C80C87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745" y="2739775"/>
            <a:ext cx="6161778" cy="29578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BB9494-9F64-2465-5C7A-6A80A4FB2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516" y="921152"/>
            <a:ext cx="2074237" cy="190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59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30D4D-56CC-1540-895E-B064C8EB6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EF59059-836A-6E07-AB61-5F9E27AFCE42}"/>
              </a:ext>
            </a:extLst>
          </p:cNvPr>
          <p:cNvSpPr/>
          <p:nvPr/>
        </p:nvSpPr>
        <p:spPr>
          <a:xfrm>
            <a:off x="268014" y="220717"/>
            <a:ext cx="5370786" cy="818374"/>
          </a:xfrm>
          <a:prstGeom prst="roundRect">
            <a:avLst/>
          </a:prstGeom>
          <a:solidFill>
            <a:srgbClr val="3B38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E8B2A1-5D62-3A23-1994-43788099C3F2}"/>
              </a:ext>
            </a:extLst>
          </p:cNvPr>
          <p:cNvSpPr txBox="1"/>
          <p:nvPr/>
        </p:nvSpPr>
        <p:spPr>
          <a:xfrm>
            <a:off x="525756" y="336377"/>
            <a:ext cx="5376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lgerian" panose="04020705040A02060702" pitchFamily="82" charset="0"/>
              </a:rPr>
              <a:t>CALCULATIONs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73A459-CAAE-56F7-68F1-DB3DBEC35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56" y="1503183"/>
            <a:ext cx="7449590" cy="41249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2FE277-D251-547E-B31F-239406B77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243" y="961920"/>
            <a:ext cx="762106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65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4A7BF-F0BA-53F6-CD30-CE45F19B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4A9927-AC20-6CD0-9B26-FDB9A7108C1F}"/>
              </a:ext>
            </a:extLst>
          </p:cNvPr>
          <p:cNvSpPr/>
          <p:nvPr/>
        </p:nvSpPr>
        <p:spPr>
          <a:xfrm>
            <a:off x="268014" y="220717"/>
            <a:ext cx="5370786" cy="818374"/>
          </a:xfrm>
          <a:prstGeom prst="roundRect">
            <a:avLst/>
          </a:prstGeom>
          <a:solidFill>
            <a:srgbClr val="3B38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7E1D3-7311-E467-E4B3-504D4A1A1A34}"/>
              </a:ext>
            </a:extLst>
          </p:cNvPr>
          <p:cNvSpPr txBox="1"/>
          <p:nvPr/>
        </p:nvSpPr>
        <p:spPr>
          <a:xfrm>
            <a:off x="525756" y="336377"/>
            <a:ext cx="5376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lgerian" panose="04020705040A02060702" pitchFamily="82" charset="0"/>
              </a:rPr>
              <a:t>CALCULATIONs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C2B06-D02A-DB78-5769-F21690919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63" y="1303388"/>
            <a:ext cx="5055237" cy="25805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794D80-30E5-D8D0-3C65-E74A791E1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63" y="3962490"/>
            <a:ext cx="6466311" cy="2674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9F104E-1BF2-5985-1A47-81D6EA595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4142" y="693777"/>
            <a:ext cx="5638121" cy="27352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D88000-08BB-34F0-5BC7-E90274BD9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484" y="3697067"/>
            <a:ext cx="4197910" cy="246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83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BB40C-EA3B-536E-BEFD-27C071F33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74CE4B-47EC-BB5F-FBA1-103634D2F8DD}"/>
              </a:ext>
            </a:extLst>
          </p:cNvPr>
          <p:cNvSpPr/>
          <p:nvPr/>
        </p:nvSpPr>
        <p:spPr>
          <a:xfrm>
            <a:off x="268014" y="220717"/>
            <a:ext cx="1329432" cy="818374"/>
          </a:xfrm>
          <a:prstGeom prst="roundRect">
            <a:avLst/>
          </a:prstGeom>
          <a:solidFill>
            <a:srgbClr val="3B38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29F3F-3EC5-7E31-1CC9-8D998FD4561D}"/>
              </a:ext>
            </a:extLst>
          </p:cNvPr>
          <p:cNvSpPr txBox="1"/>
          <p:nvPr/>
        </p:nvSpPr>
        <p:spPr>
          <a:xfrm>
            <a:off x="481689" y="347022"/>
            <a:ext cx="1115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lgerian" panose="04020705040A02060702" pitchFamily="82" charset="0"/>
              </a:rPr>
              <a:t>FEA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77742F-10ED-D9B1-D52C-E97190914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452" y="1141451"/>
            <a:ext cx="6889096" cy="502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73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47226-3A43-0191-FBD3-F824503C6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A4A8848-735E-2F50-B437-1287B6B00AFA}"/>
              </a:ext>
            </a:extLst>
          </p:cNvPr>
          <p:cNvSpPr/>
          <p:nvPr/>
        </p:nvSpPr>
        <p:spPr>
          <a:xfrm>
            <a:off x="268014" y="220717"/>
            <a:ext cx="1329432" cy="818374"/>
          </a:xfrm>
          <a:prstGeom prst="roundRect">
            <a:avLst/>
          </a:prstGeom>
          <a:solidFill>
            <a:srgbClr val="3B38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BF34F-89F6-34B2-4FDE-AAECEE2996DD}"/>
              </a:ext>
            </a:extLst>
          </p:cNvPr>
          <p:cNvSpPr txBox="1"/>
          <p:nvPr/>
        </p:nvSpPr>
        <p:spPr>
          <a:xfrm>
            <a:off x="481689" y="347022"/>
            <a:ext cx="1115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lgerian" panose="04020705040A02060702" pitchFamily="82" charset="0"/>
              </a:rPr>
              <a:t>FEA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04F1F4-8E67-3FA9-BE2D-2D45B7C10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452" y="1141451"/>
            <a:ext cx="6889096" cy="50226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4815E5-BD91-E35F-CEF9-8990BFD15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073" y="894996"/>
            <a:ext cx="8449854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50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3D5DA-5C31-B40E-1855-A1CCCF2AE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EEF60DC-312D-6B8F-9969-2A17A03DE04A}"/>
              </a:ext>
            </a:extLst>
          </p:cNvPr>
          <p:cNvSpPr/>
          <p:nvPr/>
        </p:nvSpPr>
        <p:spPr>
          <a:xfrm>
            <a:off x="268014" y="220717"/>
            <a:ext cx="5370786" cy="818374"/>
          </a:xfrm>
          <a:prstGeom prst="roundRect">
            <a:avLst/>
          </a:prstGeom>
          <a:solidFill>
            <a:srgbClr val="3B38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BBAF1-D89A-1F77-7F4C-30B0B15E26B7}"/>
              </a:ext>
            </a:extLst>
          </p:cNvPr>
          <p:cNvSpPr txBox="1"/>
          <p:nvPr/>
        </p:nvSpPr>
        <p:spPr>
          <a:xfrm>
            <a:off x="525756" y="336377"/>
            <a:ext cx="5376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lgerian" panose="04020705040A02060702" pitchFamily="82" charset="0"/>
              </a:rPr>
              <a:t>Conclusion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55B2E8-B316-D42C-CB64-C2C3A0851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31" y="1288498"/>
            <a:ext cx="9088118" cy="24101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AC7AEC-9017-3BC5-81E8-6E2B5F606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96" y="3948066"/>
            <a:ext cx="9040487" cy="1448002"/>
          </a:xfrm>
          <a:prstGeom prst="rect">
            <a:avLst/>
          </a:prstGeom>
        </p:spPr>
      </p:pic>
      <p:pic>
        <p:nvPicPr>
          <p:cNvPr id="1026" name="Picture 2" descr="Ratchets &amp; Pawls | WM Berg">
            <a:extLst>
              <a:ext uri="{FF2B5EF4-FFF2-40B4-BE49-F238E27FC236}">
                <a16:creationId xmlns:a16="http://schemas.microsoft.com/office/drawing/2014/main" id="{A6BD4B1E-B6AA-2966-8DAB-B8E6AFA34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642982">
            <a:off x="9346206" y="3211417"/>
            <a:ext cx="314325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2930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A4BBB-0630-DF4D-E0EA-E99CC416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rica Anderson — Light Pollution. You can get this GIF as a ...">
            <a:extLst>
              <a:ext uri="{FF2B5EF4-FFF2-40B4-BE49-F238E27FC236}">
                <a16:creationId xmlns:a16="http://schemas.microsoft.com/office/drawing/2014/main" id="{74928744-E908-5A3A-45D6-74157064C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8" y="-608716"/>
            <a:ext cx="8859404" cy="885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E090CA7-7C4D-1BF9-6CCE-9BE3644D3DA5}"/>
              </a:ext>
            </a:extLst>
          </p:cNvPr>
          <p:cNvSpPr/>
          <p:nvPr/>
        </p:nvSpPr>
        <p:spPr>
          <a:xfrm>
            <a:off x="-865180" y="-538362"/>
            <a:ext cx="14428068" cy="8718697"/>
          </a:xfrm>
          <a:custGeom>
            <a:avLst/>
            <a:gdLst/>
            <a:ahLst/>
            <a:cxnLst/>
            <a:rect l="l" t="t" r="r" b="b"/>
            <a:pathLst>
              <a:path w="13078046" h="7442790">
                <a:moveTo>
                  <a:pt x="8154823" y="4151743"/>
                </a:moveTo>
                <a:cubicBezTo>
                  <a:pt x="8178068" y="4152655"/>
                  <a:pt x="8201085" y="4161087"/>
                  <a:pt x="8223874" y="4177039"/>
                </a:cubicBezTo>
                <a:cubicBezTo>
                  <a:pt x="8246663" y="4192992"/>
                  <a:pt x="8266718" y="4214869"/>
                  <a:pt x="8284038" y="4242672"/>
                </a:cubicBezTo>
                <a:cubicBezTo>
                  <a:pt x="8312297" y="4287795"/>
                  <a:pt x="8335314" y="4342262"/>
                  <a:pt x="8353089" y="4406072"/>
                </a:cubicBezTo>
                <a:cubicBezTo>
                  <a:pt x="8370865" y="4469882"/>
                  <a:pt x="8379753" y="4529362"/>
                  <a:pt x="8379753" y="4584512"/>
                </a:cubicBezTo>
                <a:cubicBezTo>
                  <a:pt x="8379753" y="4626900"/>
                  <a:pt x="8369156" y="4661084"/>
                  <a:pt x="8347962" y="4687064"/>
                </a:cubicBezTo>
                <a:cubicBezTo>
                  <a:pt x="8326768" y="4713044"/>
                  <a:pt x="8298851" y="4726034"/>
                  <a:pt x="8264211" y="4726034"/>
                </a:cubicBezTo>
                <a:cubicBezTo>
                  <a:pt x="8242789" y="4726034"/>
                  <a:pt x="8221709" y="4719425"/>
                  <a:pt x="8200971" y="4706207"/>
                </a:cubicBezTo>
                <a:cubicBezTo>
                  <a:pt x="8180233" y="4692989"/>
                  <a:pt x="8162799" y="4675213"/>
                  <a:pt x="8148669" y="4652880"/>
                </a:cubicBezTo>
                <a:cubicBezTo>
                  <a:pt x="8116764" y="4600464"/>
                  <a:pt x="8090329" y="4540415"/>
                  <a:pt x="8069363" y="4472730"/>
                </a:cubicBezTo>
                <a:cubicBezTo>
                  <a:pt x="8048396" y="4405046"/>
                  <a:pt x="8037913" y="4345452"/>
                  <a:pt x="8037913" y="4293948"/>
                </a:cubicBezTo>
                <a:cubicBezTo>
                  <a:pt x="8037913" y="4258853"/>
                  <a:pt x="8046573" y="4228543"/>
                  <a:pt x="8063893" y="4203019"/>
                </a:cubicBezTo>
                <a:cubicBezTo>
                  <a:pt x="8086227" y="4168835"/>
                  <a:pt x="8116536" y="4151743"/>
                  <a:pt x="8154823" y="4151743"/>
                </a:cubicBezTo>
                <a:close/>
                <a:moveTo>
                  <a:pt x="9032150" y="3960996"/>
                </a:moveTo>
                <a:cubicBezTo>
                  <a:pt x="8963782" y="3960996"/>
                  <a:pt x="8904530" y="3966010"/>
                  <a:pt x="8854393" y="3976037"/>
                </a:cubicBezTo>
                <a:cubicBezTo>
                  <a:pt x="8829325" y="3981051"/>
                  <a:pt x="8809157" y="3990395"/>
                  <a:pt x="8793888" y="4004068"/>
                </a:cubicBezTo>
                <a:cubicBezTo>
                  <a:pt x="8778619" y="4017742"/>
                  <a:pt x="8770985" y="4033466"/>
                  <a:pt x="8770985" y="4051242"/>
                </a:cubicBezTo>
                <a:cubicBezTo>
                  <a:pt x="8770985" y="4075399"/>
                  <a:pt x="8786026" y="4097277"/>
                  <a:pt x="8816107" y="4116875"/>
                </a:cubicBezTo>
                <a:cubicBezTo>
                  <a:pt x="8835251" y="4129637"/>
                  <a:pt x="8847671" y="4143311"/>
                  <a:pt x="8853368" y="4157896"/>
                </a:cubicBezTo>
                <a:cubicBezTo>
                  <a:pt x="8859065" y="4172481"/>
                  <a:pt x="8861914" y="4198689"/>
                  <a:pt x="8861914" y="4236519"/>
                </a:cubicBezTo>
                <a:cubicBezTo>
                  <a:pt x="8861914" y="4253839"/>
                  <a:pt x="8861230" y="4289390"/>
                  <a:pt x="8859863" y="4343173"/>
                </a:cubicBezTo>
                <a:cubicBezTo>
                  <a:pt x="8857584" y="4419289"/>
                  <a:pt x="8856445" y="4473984"/>
                  <a:pt x="8856445" y="4507256"/>
                </a:cubicBezTo>
                <a:cubicBezTo>
                  <a:pt x="8856445" y="4592488"/>
                  <a:pt x="8864649" y="4657666"/>
                  <a:pt x="8881057" y="4702788"/>
                </a:cubicBezTo>
                <a:cubicBezTo>
                  <a:pt x="8897465" y="4747911"/>
                  <a:pt x="8927091" y="4787565"/>
                  <a:pt x="8969935" y="4821749"/>
                </a:cubicBezTo>
                <a:cubicBezTo>
                  <a:pt x="9057902" y="4891484"/>
                  <a:pt x="9175039" y="4926352"/>
                  <a:pt x="9321347" y="4926352"/>
                </a:cubicBezTo>
                <a:cubicBezTo>
                  <a:pt x="9405211" y="4926352"/>
                  <a:pt x="9480416" y="4914045"/>
                  <a:pt x="9546961" y="4889433"/>
                </a:cubicBezTo>
                <a:cubicBezTo>
                  <a:pt x="9656805" y="4849779"/>
                  <a:pt x="9727908" y="4785742"/>
                  <a:pt x="9760269" y="4697319"/>
                </a:cubicBezTo>
                <a:cubicBezTo>
                  <a:pt x="9775309" y="4655387"/>
                  <a:pt x="9782830" y="4584056"/>
                  <a:pt x="9782830" y="4483327"/>
                </a:cubicBezTo>
                <a:lnTo>
                  <a:pt x="9782830" y="4316510"/>
                </a:lnTo>
                <a:cubicBezTo>
                  <a:pt x="9783741" y="4215325"/>
                  <a:pt x="9785907" y="4156871"/>
                  <a:pt x="9789325" y="4141146"/>
                </a:cubicBezTo>
                <a:cubicBezTo>
                  <a:pt x="9792743" y="4125421"/>
                  <a:pt x="9806531" y="4110722"/>
                  <a:pt x="9830687" y="4097049"/>
                </a:cubicBezTo>
                <a:cubicBezTo>
                  <a:pt x="9853933" y="4083831"/>
                  <a:pt x="9868290" y="4074031"/>
                  <a:pt x="9873759" y="4067650"/>
                </a:cubicBezTo>
                <a:cubicBezTo>
                  <a:pt x="9879229" y="4061269"/>
                  <a:pt x="9881963" y="4051470"/>
                  <a:pt x="9881963" y="4038252"/>
                </a:cubicBezTo>
                <a:cubicBezTo>
                  <a:pt x="9881963" y="4011361"/>
                  <a:pt x="9866125" y="3991762"/>
                  <a:pt x="9834448" y="3979456"/>
                </a:cubicBezTo>
                <a:cubicBezTo>
                  <a:pt x="9802771" y="3967150"/>
                  <a:pt x="9751609" y="3960996"/>
                  <a:pt x="9680962" y="3960996"/>
                </a:cubicBezTo>
                <a:cubicBezTo>
                  <a:pt x="9608947" y="3960996"/>
                  <a:pt x="9556646" y="3967264"/>
                  <a:pt x="9524057" y="3979798"/>
                </a:cubicBezTo>
                <a:cubicBezTo>
                  <a:pt x="9491469" y="3992332"/>
                  <a:pt x="9475174" y="4012272"/>
                  <a:pt x="9475174" y="4039620"/>
                </a:cubicBezTo>
                <a:cubicBezTo>
                  <a:pt x="9475174" y="4052382"/>
                  <a:pt x="9479504" y="4063093"/>
                  <a:pt x="9488164" y="4071752"/>
                </a:cubicBezTo>
                <a:cubicBezTo>
                  <a:pt x="9496824" y="4080412"/>
                  <a:pt x="9513005" y="4089984"/>
                  <a:pt x="9536705" y="4100467"/>
                </a:cubicBezTo>
                <a:cubicBezTo>
                  <a:pt x="9561774" y="4111862"/>
                  <a:pt x="9576473" y="4127472"/>
                  <a:pt x="9580803" y="4147299"/>
                </a:cubicBezTo>
                <a:cubicBezTo>
                  <a:pt x="9585133" y="4167126"/>
                  <a:pt x="9588437" y="4234696"/>
                  <a:pt x="9590716" y="4350010"/>
                </a:cubicBezTo>
                <a:lnTo>
                  <a:pt x="9590716" y="4500419"/>
                </a:lnTo>
                <a:cubicBezTo>
                  <a:pt x="9590716" y="4538250"/>
                  <a:pt x="9588437" y="4568104"/>
                  <a:pt x="9583879" y="4589981"/>
                </a:cubicBezTo>
                <a:cubicBezTo>
                  <a:pt x="9579321" y="4611859"/>
                  <a:pt x="9570889" y="4631686"/>
                  <a:pt x="9558583" y="4649461"/>
                </a:cubicBezTo>
                <a:cubicBezTo>
                  <a:pt x="9543087" y="4672707"/>
                  <a:pt x="9520525" y="4691052"/>
                  <a:pt x="9490899" y="4704498"/>
                </a:cubicBezTo>
                <a:cubicBezTo>
                  <a:pt x="9461273" y="4717943"/>
                  <a:pt x="9428228" y="4724666"/>
                  <a:pt x="9391765" y="4724666"/>
                </a:cubicBezTo>
                <a:cubicBezTo>
                  <a:pt x="9334337" y="4724666"/>
                  <a:pt x="9287391" y="4707802"/>
                  <a:pt x="9250927" y="4674074"/>
                </a:cubicBezTo>
                <a:cubicBezTo>
                  <a:pt x="9206261" y="4633053"/>
                  <a:pt x="9185067" y="4573345"/>
                  <a:pt x="9187345" y="4494950"/>
                </a:cubicBezTo>
                <a:cubicBezTo>
                  <a:pt x="9190992" y="4363228"/>
                  <a:pt x="9192815" y="4277540"/>
                  <a:pt x="9192815" y="4237887"/>
                </a:cubicBezTo>
                <a:cubicBezTo>
                  <a:pt x="9192815" y="4199145"/>
                  <a:pt x="9195435" y="4171342"/>
                  <a:pt x="9200677" y="4154478"/>
                </a:cubicBezTo>
                <a:cubicBezTo>
                  <a:pt x="9205919" y="4137614"/>
                  <a:pt x="9215832" y="4125991"/>
                  <a:pt x="9230417" y="4119610"/>
                </a:cubicBezTo>
                <a:cubicBezTo>
                  <a:pt x="9254574" y="4108215"/>
                  <a:pt x="9268247" y="4101151"/>
                  <a:pt x="9271438" y="4098416"/>
                </a:cubicBezTo>
                <a:cubicBezTo>
                  <a:pt x="9285567" y="4087021"/>
                  <a:pt x="9292632" y="4071752"/>
                  <a:pt x="9292632" y="4052609"/>
                </a:cubicBezTo>
                <a:cubicBezTo>
                  <a:pt x="9292632" y="4013868"/>
                  <a:pt x="9268247" y="3989027"/>
                  <a:pt x="9219478" y="3978088"/>
                </a:cubicBezTo>
                <a:cubicBezTo>
                  <a:pt x="9169797" y="3966694"/>
                  <a:pt x="9107355" y="3960996"/>
                  <a:pt x="9032150" y="3960996"/>
                </a:cubicBezTo>
                <a:close/>
                <a:moveTo>
                  <a:pt x="6948319" y="3960313"/>
                </a:moveTo>
                <a:cubicBezTo>
                  <a:pt x="6840298" y="3960313"/>
                  <a:pt x="6763270" y="3967036"/>
                  <a:pt x="6717236" y="3980481"/>
                </a:cubicBezTo>
                <a:cubicBezTo>
                  <a:pt x="6671201" y="3993927"/>
                  <a:pt x="6648184" y="4015919"/>
                  <a:pt x="6648184" y="4046456"/>
                </a:cubicBezTo>
                <a:cubicBezTo>
                  <a:pt x="6648184" y="4064688"/>
                  <a:pt x="6654565" y="4079273"/>
                  <a:pt x="6667327" y="4090212"/>
                </a:cubicBezTo>
                <a:cubicBezTo>
                  <a:pt x="6673708" y="4095681"/>
                  <a:pt x="6692396" y="4104113"/>
                  <a:pt x="6723389" y="4115508"/>
                </a:cubicBezTo>
                <a:cubicBezTo>
                  <a:pt x="6745267" y="4123712"/>
                  <a:pt x="6768056" y="4139437"/>
                  <a:pt x="6791757" y="4162682"/>
                </a:cubicBezTo>
                <a:cubicBezTo>
                  <a:pt x="6846451" y="4216465"/>
                  <a:pt x="6899550" y="4276856"/>
                  <a:pt x="6951054" y="4343857"/>
                </a:cubicBezTo>
                <a:cubicBezTo>
                  <a:pt x="6975667" y="4376218"/>
                  <a:pt x="6991619" y="4402539"/>
                  <a:pt x="6998912" y="4422822"/>
                </a:cubicBezTo>
                <a:cubicBezTo>
                  <a:pt x="7006204" y="4443104"/>
                  <a:pt x="7009851" y="4471477"/>
                  <a:pt x="7009851" y="4507940"/>
                </a:cubicBezTo>
                <a:cubicBezTo>
                  <a:pt x="7009851" y="4625077"/>
                  <a:pt x="7002558" y="4699370"/>
                  <a:pt x="6987973" y="4730819"/>
                </a:cubicBezTo>
                <a:cubicBezTo>
                  <a:pt x="6981592" y="4744949"/>
                  <a:pt x="6965411" y="4756571"/>
                  <a:pt x="6939432" y="4765687"/>
                </a:cubicBezTo>
                <a:cubicBezTo>
                  <a:pt x="6904792" y="4777993"/>
                  <a:pt x="6887472" y="4798276"/>
                  <a:pt x="6887472" y="4826534"/>
                </a:cubicBezTo>
                <a:cubicBezTo>
                  <a:pt x="6887472" y="4862997"/>
                  <a:pt x="6915731" y="4887382"/>
                  <a:pt x="6972248" y="4899688"/>
                </a:cubicBezTo>
                <a:cubicBezTo>
                  <a:pt x="7039249" y="4914273"/>
                  <a:pt x="7110351" y="4921566"/>
                  <a:pt x="7185556" y="4921566"/>
                </a:cubicBezTo>
                <a:cubicBezTo>
                  <a:pt x="7368782" y="4921566"/>
                  <a:pt x="7460395" y="4890572"/>
                  <a:pt x="7460395" y="4828585"/>
                </a:cubicBezTo>
                <a:cubicBezTo>
                  <a:pt x="7460395" y="4802606"/>
                  <a:pt x="7443759" y="4780956"/>
                  <a:pt x="7410487" y="4763636"/>
                </a:cubicBezTo>
                <a:cubicBezTo>
                  <a:pt x="7390432" y="4753153"/>
                  <a:pt x="7377214" y="4742556"/>
                  <a:pt x="7370833" y="4731845"/>
                </a:cubicBezTo>
                <a:cubicBezTo>
                  <a:pt x="7364452" y="4721134"/>
                  <a:pt x="7360122" y="4701877"/>
                  <a:pt x="7357843" y="4674074"/>
                </a:cubicBezTo>
                <a:cubicBezTo>
                  <a:pt x="7353741" y="4628951"/>
                  <a:pt x="7351690" y="4579954"/>
                  <a:pt x="7351690" y="4527083"/>
                </a:cubicBezTo>
                <a:cubicBezTo>
                  <a:pt x="7351690" y="4464184"/>
                  <a:pt x="7359325" y="4416897"/>
                  <a:pt x="7374593" y="4385219"/>
                </a:cubicBezTo>
                <a:cubicBezTo>
                  <a:pt x="7389862" y="4353542"/>
                  <a:pt x="7428490" y="4304203"/>
                  <a:pt x="7490477" y="4237203"/>
                </a:cubicBezTo>
                <a:cubicBezTo>
                  <a:pt x="7541525" y="4182509"/>
                  <a:pt x="7576621" y="4147755"/>
                  <a:pt x="7595764" y="4132942"/>
                </a:cubicBezTo>
                <a:cubicBezTo>
                  <a:pt x="7614907" y="4118129"/>
                  <a:pt x="7637468" y="4108215"/>
                  <a:pt x="7663448" y="4103202"/>
                </a:cubicBezTo>
                <a:cubicBezTo>
                  <a:pt x="7691707" y="4098188"/>
                  <a:pt x="7711533" y="4090896"/>
                  <a:pt x="7722928" y="4081324"/>
                </a:cubicBezTo>
                <a:cubicBezTo>
                  <a:pt x="7734323" y="4071752"/>
                  <a:pt x="7740020" y="4057623"/>
                  <a:pt x="7740020" y="4038936"/>
                </a:cubicBezTo>
                <a:cubicBezTo>
                  <a:pt x="7740020" y="4024351"/>
                  <a:pt x="7735120" y="4010677"/>
                  <a:pt x="7725321" y="3997915"/>
                </a:cubicBezTo>
                <a:cubicBezTo>
                  <a:pt x="7715521" y="3985153"/>
                  <a:pt x="7703101" y="3976493"/>
                  <a:pt x="7688060" y="3971935"/>
                </a:cubicBezTo>
                <a:cubicBezTo>
                  <a:pt x="7664359" y="3964643"/>
                  <a:pt x="7613083" y="3960996"/>
                  <a:pt x="7534232" y="3960996"/>
                </a:cubicBezTo>
                <a:cubicBezTo>
                  <a:pt x="7394762" y="3960996"/>
                  <a:pt x="7325027" y="3986748"/>
                  <a:pt x="7325027" y="4038252"/>
                </a:cubicBezTo>
                <a:cubicBezTo>
                  <a:pt x="7325027" y="4056028"/>
                  <a:pt x="7329585" y="4070157"/>
                  <a:pt x="7338700" y="4080640"/>
                </a:cubicBezTo>
                <a:cubicBezTo>
                  <a:pt x="7351462" y="4096137"/>
                  <a:pt x="7358869" y="4105936"/>
                  <a:pt x="7360920" y="4110039"/>
                </a:cubicBezTo>
                <a:cubicBezTo>
                  <a:pt x="7362971" y="4114141"/>
                  <a:pt x="7363996" y="4120294"/>
                  <a:pt x="7363996" y="4128498"/>
                </a:cubicBezTo>
                <a:cubicBezTo>
                  <a:pt x="7363996" y="4141716"/>
                  <a:pt x="7355108" y="4159491"/>
                  <a:pt x="7337333" y="4181825"/>
                </a:cubicBezTo>
                <a:cubicBezTo>
                  <a:pt x="7322748" y="4200056"/>
                  <a:pt x="7310897" y="4212704"/>
                  <a:pt x="7301782" y="4219769"/>
                </a:cubicBezTo>
                <a:cubicBezTo>
                  <a:pt x="7292666" y="4226834"/>
                  <a:pt x="7283322" y="4230366"/>
                  <a:pt x="7273751" y="4230366"/>
                </a:cubicBezTo>
                <a:cubicBezTo>
                  <a:pt x="7258710" y="4230366"/>
                  <a:pt x="7242757" y="4218744"/>
                  <a:pt x="7225893" y="4195498"/>
                </a:cubicBezTo>
                <a:cubicBezTo>
                  <a:pt x="7199913" y="4159491"/>
                  <a:pt x="7186923" y="4133284"/>
                  <a:pt x="7186923" y="4116875"/>
                </a:cubicBezTo>
                <a:cubicBezTo>
                  <a:pt x="7186923" y="4108671"/>
                  <a:pt x="7194216" y="4095225"/>
                  <a:pt x="7208801" y="4076538"/>
                </a:cubicBezTo>
                <a:cubicBezTo>
                  <a:pt x="7218829" y="4064232"/>
                  <a:pt x="7223842" y="4052154"/>
                  <a:pt x="7223842" y="4040303"/>
                </a:cubicBezTo>
                <a:cubicBezTo>
                  <a:pt x="7223842" y="4024807"/>
                  <a:pt x="7217347" y="4011019"/>
                  <a:pt x="7204357" y="3998941"/>
                </a:cubicBezTo>
                <a:cubicBezTo>
                  <a:pt x="7191367" y="3986862"/>
                  <a:pt x="7174161" y="3978772"/>
                  <a:pt x="7152739" y="3974670"/>
                </a:cubicBezTo>
                <a:cubicBezTo>
                  <a:pt x="7105794" y="3965099"/>
                  <a:pt x="7037654" y="3960313"/>
                  <a:pt x="6948319" y="3960313"/>
                </a:cubicBezTo>
                <a:close/>
                <a:moveTo>
                  <a:pt x="8219772" y="3955527"/>
                </a:moveTo>
                <a:cubicBezTo>
                  <a:pt x="8144112" y="3955527"/>
                  <a:pt x="8075288" y="3967377"/>
                  <a:pt x="8013301" y="3991078"/>
                </a:cubicBezTo>
                <a:cubicBezTo>
                  <a:pt x="7920776" y="4025718"/>
                  <a:pt x="7847167" y="4079957"/>
                  <a:pt x="7792473" y="4153794"/>
                </a:cubicBezTo>
                <a:cubicBezTo>
                  <a:pt x="7730941" y="4236747"/>
                  <a:pt x="7700176" y="4332462"/>
                  <a:pt x="7700176" y="4440939"/>
                </a:cubicBezTo>
                <a:cubicBezTo>
                  <a:pt x="7700176" y="4534376"/>
                  <a:pt x="7724105" y="4619835"/>
                  <a:pt x="7771962" y="4697319"/>
                </a:cubicBezTo>
                <a:cubicBezTo>
                  <a:pt x="7821187" y="4777537"/>
                  <a:pt x="7889327" y="4837473"/>
                  <a:pt x="7976382" y="4877127"/>
                </a:cubicBezTo>
                <a:cubicBezTo>
                  <a:pt x="8048396" y="4909943"/>
                  <a:pt x="8123829" y="4926352"/>
                  <a:pt x="8202680" y="4926352"/>
                </a:cubicBezTo>
                <a:cubicBezTo>
                  <a:pt x="8262844" y="4926352"/>
                  <a:pt x="8322780" y="4916780"/>
                  <a:pt x="8382488" y="4897637"/>
                </a:cubicBezTo>
                <a:cubicBezTo>
                  <a:pt x="8479570" y="4866188"/>
                  <a:pt x="8558193" y="4814456"/>
                  <a:pt x="8618357" y="4742442"/>
                </a:cubicBezTo>
                <a:cubicBezTo>
                  <a:pt x="8689459" y="4657666"/>
                  <a:pt x="8725011" y="4561495"/>
                  <a:pt x="8725011" y="4453929"/>
                </a:cubicBezTo>
                <a:cubicBezTo>
                  <a:pt x="8725011" y="4381003"/>
                  <a:pt x="8707007" y="4308078"/>
                  <a:pt x="8671000" y="4235152"/>
                </a:cubicBezTo>
                <a:cubicBezTo>
                  <a:pt x="8634082" y="4161770"/>
                  <a:pt x="8585996" y="4102062"/>
                  <a:pt x="8526744" y="4056028"/>
                </a:cubicBezTo>
                <a:cubicBezTo>
                  <a:pt x="8439233" y="3989027"/>
                  <a:pt x="8336909" y="3955527"/>
                  <a:pt x="8219772" y="3955527"/>
                </a:cubicBezTo>
                <a:close/>
                <a:moveTo>
                  <a:pt x="4858441" y="2721478"/>
                </a:moveTo>
                <a:cubicBezTo>
                  <a:pt x="4867557" y="2721478"/>
                  <a:pt x="4876217" y="2726036"/>
                  <a:pt x="4884420" y="2735152"/>
                </a:cubicBezTo>
                <a:cubicBezTo>
                  <a:pt x="4892624" y="2744267"/>
                  <a:pt x="4904475" y="2762271"/>
                  <a:pt x="4919972" y="2789162"/>
                </a:cubicBezTo>
                <a:cubicBezTo>
                  <a:pt x="4954155" y="2847959"/>
                  <a:pt x="4971248" y="2884877"/>
                  <a:pt x="4971248" y="2899918"/>
                </a:cubicBezTo>
                <a:cubicBezTo>
                  <a:pt x="4971248" y="2910857"/>
                  <a:pt x="4958941" y="2916327"/>
                  <a:pt x="4934328" y="2916327"/>
                </a:cubicBezTo>
                <a:lnTo>
                  <a:pt x="4800327" y="2916327"/>
                </a:lnTo>
                <a:cubicBezTo>
                  <a:pt x="4779362" y="2916327"/>
                  <a:pt x="4768878" y="2910629"/>
                  <a:pt x="4768878" y="2899234"/>
                </a:cubicBezTo>
                <a:cubicBezTo>
                  <a:pt x="4768878" y="2890119"/>
                  <a:pt x="4778450" y="2862316"/>
                  <a:pt x="4797592" y="2815826"/>
                </a:cubicBezTo>
                <a:cubicBezTo>
                  <a:pt x="4808987" y="2787567"/>
                  <a:pt x="4815596" y="2771387"/>
                  <a:pt x="4817419" y="2767284"/>
                </a:cubicBezTo>
                <a:cubicBezTo>
                  <a:pt x="4828358" y="2736747"/>
                  <a:pt x="4842032" y="2721478"/>
                  <a:pt x="4858441" y="2721478"/>
                </a:cubicBezTo>
                <a:close/>
                <a:moveTo>
                  <a:pt x="6983589" y="2355026"/>
                </a:moveTo>
                <a:cubicBezTo>
                  <a:pt x="6913398" y="2355026"/>
                  <a:pt x="6855058" y="2359584"/>
                  <a:pt x="6808567" y="2368699"/>
                </a:cubicBezTo>
                <a:cubicBezTo>
                  <a:pt x="6773472" y="2375536"/>
                  <a:pt x="6747948" y="2385563"/>
                  <a:pt x="6731995" y="2398781"/>
                </a:cubicBezTo>
                <a:cubicBezTo>
                  <a:pt x="6716043" y="2411999"/>
                  <a:pt x="6708067" y="2429547"/>
                  <a:pt x="6708067" y="2451425"/>
                </a:cubicBezTo>
                <a:cubicBezTo>
                  <a:pt x="6708067" y="2477405"/>
                  <a:pt x="6720829" y="2497687"/>
                  <a:pt x="6746353" y="2512272"/>
                </a:cubicBezTo>
                <a:cubicBezTo>
                  <a:pt x="6762305" y="2521388"/>
                  <a:pt x="6773472" y="2530732"/>
                  <a:pt x="6779853" y="2540303"/>
                </a:cubicBezTo>
                <a:cubicBezTo>
                  <a:pt x="6786234" y="2549875"/>
                  <a:pt x="6791248" y="2565599"/>
                  <a:pt x="6794894" y="2587477"/>
                </a:cubicBezTo>
                <a:cubicBezTo>
                  <a:pt x="6804465" y="2640804"/>
                  <a:pt x="6809251" y="2731277"/>
                  <a:pt x="6809251" y="2858898"/>
                </a:cubicBezTo>
                <a:cubicBezTo>
                  <a:pt x="6809251" y="2966007"/>
                  <a:pt x="6804693" y="3045314"/>
                  <a:pt x="6795578" y="3096818"/>
                </a:cubicBezTo>
                <a:cubicBezTo>
                  <a:pt x="6791020" y="3120063"/>
                  <a:pt x="6786120" y="3136586"/>
                  <a:pt x="6780878" y="3146385"/>
                </a:cubicBezTo>
                <a:cubicBezTo>
                  <a:pt x="6775637" y="3156184"/>
                  <a:pt x="6766863" y="3165186"/>
                  <a:pt x="6754557" y="3173390"/>
                </a:cubicBezTo>
                <a:cubicBezTo>
                  <a:pt x="6727210" y="3190710"/>
                  <a:pt x="6713536" y="3211448"/>
                  <a:pt x="6713536" y="3235605"/>
                </a:cubicBezTo>
                <a:cubicBezTo>
                  <a:pt x="6713536" y="3250646"/>
                  <a:pt x="6718664" y="3264206"/>
                  <a:pt x="6728919" y="3276284"/>
                </a:cubicBezTo>
                <a:cubicBezTo>
                  <a:pt x="6739174" y="3288362"/>
                  <a:pt x="6752506" y="3296680"/>
                  <a:pt x="6768914" y="3301238"/>
                </a:cubicBezTo>
                <a:cubicBezTo>
                  <a:pt x="6807656" y="3311265"/>
                  <a:pt x="6869187" y="3316279"/>
                  <a:pt x="6953507" y="3316279"/>
                </a:cubicBezTo>
                <a:cubicBezTo>
                  <a:pt x="7048311" y="3316279"/>
                  <a:pt x="7115767" y="3309784"/>
                  <a:pt x="7155876" y="3296794"/>
                </a:cubicBezTo>
                <a:cubicBezTo>
                  <a:pt x="7195985" y="3283804"/>
                  <a:pt x="7216040" y="3262268"/>
                  <a:pt x="7216040" y="3232186"/>
                </a:cubicBezTo>
                <a:cubicBezTo>
                  <a:pt x="7216040" y="3208486"/>
                  <a:pt x="7203734" y="3188659"/>
                  <a:pt x="7179121" y="3172706"/>
                </a:cubicBezTo>
                <a:cubicBezTo>
                  <a:pt x="7167727" y="3164958"/>
                  <a:pt x="7160434" y="3159944"/>
                  <a:pt x="7157244" y="3157665"/>
                </a:cubicBezTo>
                <a:cubicBezTo>
                  <a:pt x="7139924" y="3142169"/>
                  <a:pt x="7131264" y="3114138"/>
                  <a:pt x="7131264" y="3073573"/>
                </a:cubicBezTo>
                <a:cubicBezTo>
                  <a:pt x="7131264" y="3023892"/>
                  <a:pt x="7144482" y="2999052"/>
                  <a:pt x="7170917" y="2999052"/>
                </a:cubicBezTo>
                <a:cubicBezTo>
                  <a:pt x="7179577" y="2999052"/>
                  <a:pt x="7189035" y="3003268"/>
                  <a:pt x="7199290" y="3011700"/>
                </a:cubicBezTo>
                <a:cubicBezTo>
                  <a:pt x="7209545" y="3020132"/>
                  <a:pt x="7227435" y="3038021"/>
                  <a:pt x="7252959" y="3065369"/>
                </a:cubicBezTo>
                <a:cubicBezTo>
                  <a:pt x="7311299" y="3128723"/>
                  <a:pt x="7358245" y="3184785"/>
                  <a:pt x="7393797" y="3233554"/>
                </a:cubicBezTo>
                <a:cubicBezTo>
                  <a:pt x="7416130" y="3264092"/>
                  <a:pt x="7432424" y="3283234"/>
                  <a:pt x="7442680" y="3290983"/>
                </a:cubicBezTo>
                <a:cubicBezTo>
                  <a:pt x="7452935" y="3298732"/>
                  <a:pt x="7466950" y="3302605"/>
                  <a:pt x="7484726" y="3302605"/>
                </a:cubicBezTo>
                <a:lnTo>
                  <a:pt x="7743840" y="3302605"/>
                </a:lnTo>
                <a:cubicBezTo>
                  <a:pt x="7812664" y="3302605"/>
                  <a:pt x="7847076" y="3278449"/>
                  <a:pt x="7847076" y="3230135"/>
                </a:cubicBezTo>
                <a:cubicBezTo>
                  <a:pt x="7847076" y="3209625"/>
                  <a:pt x="7841948" y="3192989"/>
                  <a:pt x="7831693" y="3180227"/>
                </a:cubicBezTo>
                <a:cubicBezTo>
                  <a:pt x="7821438" y="3167465"/>
                  <a:pt x="7804004" y="3155842"/>
                  <a:pt x="7779392" y="3145359"/>
                </a:cubicBezTo>
                <a:cubicBezTo>
                  <a:pt x="7762072" y="3137611"/>
                  <a:pt x="7749082" y="3130204"/>
                  <a:pt x="7740422" y="3123139"/>
                </a:cubicBezTo>
                <a:cubicBezTo>
                  <a:pt x="7731762" y="3116075"/>
                  <a:pt x="7716037" y="3099325"/>
                  <a:pt x="7693248" y="3072889"/>
                </a:cubicBezTo>
                <a:lnTo>
                  <a:pt x="7437552" y="2776856"/>
                </a:lnTo>
                <a:cubicBezTo>
                  <a:pt x="7420688" y="2757257"/>
                  <a:pt x="7409179" y="2741761"/>
                  <a:pt x="7403026" y="2730366"/>
                </a:cubicBezTo>
                <a:cubicBezTo>
                  <a:pt x="7396873" y="2718971"/>
                  <a:pt x="7393797" y="2707577"/>
                  <a:pt x="7393797" y="2696182"/>
                </a:cubicBezTo>
                <a:cubicBezTo>
                  <a:pt x="7393797" y="2675216"/>
                  <a:pt x="7407242" y="2651971"/>
                  <a:pt x="7434134" y="2626447"/>
                </a:cubicBezTo>
                <a:lnTo>
                  <a:pt x="7507287" y="2556028"/>
                </a:lnTo>
                <a:cubicBezTo>
                  <a:pt x="7526430" y="2537796"/>
                  <a:pt x="7542041" y="2526060"/>
                  <a:pt x="7554119" y="2520818"/>
                </a:cubicBezTo>
                <a:cubicBezTo>
                  <a:pt x="7566198" y="2515577"/>
                  <a:pt x="7584315" y="2512728"/>
                  <a:pt x="7608472" y="2512272"/>
                </a:cubicBezTo>
                <a:cubicBezTo>
                  <a:pt x="7643112" y="2511816"/>
                  <a:pt x="7665217" y="2509993"/>
                  <a:pt x="7674789" y="2506803"/>
                </a:cubicBezTo>
                <a:cubicBezTo>
                  <a:pt x="7687551" y="2503156"/>
                  <a:pt x="7698262" y="2495066"/>
                  <a:pt x="7706922" y="2482532"/>
                </a:cubicBezTo>
                <a:cubicBezTo>
                  <a:pt x="7715582" y="2469998"/>
                  <a:pt x="7719912" y="2456438"/>
                  <a:pt x="7719912" y="2441853"/>
                </a:cubicBezTo>
                <a:cubicBezTo>
                  <a:pt x="7719912" y="2404935"/>
                  <a:pt x="7699173" y="2380778"/>
                  <a:pt x="7657697" y="2369383"/>
                </a:cubicBezTo>
                <a:cubicBezTo>
                  <a:pt x="7623969" y="2360268"/>
                  <a:pt x="7572009" y="2355709"/>
                  <a:pt x="7501818" y="2355709"/>
                </a:cubicBezTo>
                <a:cubicBezTo>
                  <a:pt x="7413851" y="2355709"/>
                  <a:pt x="7351636" y="2362660"/>
                  <a:pt x="7315173" y="2376562"/>
                </a:cubicBezTo>
                <a:cubicBezTo>
                  <a:pt x="7278711" y="2390463"/>
                  <a:pt x="7260479" y="2414278"/>
                  <a:pt x="7260479" y="2448006"/>
                </a:cubicBezTo>
                <a:cubicBezTo>
                  <a:pt x="7260479" y="2457578"/>
                  <a:pt x="7263442" y="2468061"/>
                  <a:pt x="7269367" y="2479456"/>
                </a:cubicBezTo>
                <a:cubicBezTo>
                  <a:pt x="7278027" y="2495864"/>
                  <a:pt x="7282357" y="2508170"/>
                  <a:pt x="7282357" y="2516374"/>
                </a:cubicBezTo>
                <a:cubicBezTo>
                  <a:pt x="7282357" y="2531871"/>
                  <a:pt x="7265265" y="2560813"/>
                  <a:pt x="7231081" y="2603202"/>
                </a:cubicBezTo>
                <a:cubicBezTo>
                  <a:pt x="7201455" y="2639664"/>
                  <a:pt x="7181742" y="2662454"/>
                  <a:pt x="7171943" y="2671569"/>
                </a:cubicBezTo>
                <a:cubicBezTo>
                  <a:pt x="7162143" y="2680685"/>
                  <a:pt x="7152002" y="2685243"/>
                  <a:pt x="7141519" y="2685243"/>
                </a:cubicBezTo>
                <a:cubicBezTo>
                  <a:pt x="7124199" y="2685243"/>
                  <a:pt x="7115539" y="2666100"/>
                  <a:pt x="7115539" y="2627814"/>
                </a:cubicBezTo>
                <a:cubicBezTo>
                  <a:pt x="7115539" y="2604569"/>
                  <a:pt x="7118616" y="2580868"/>
                  <a:pt x="7124769" y="2556711"/>
                </a:cubicBezTo>
                <a:cubicBezTo>
                  <a:pt x="7130922" y="2532555"/>
                  <a:pt x="7137645" y="2517286"/>
                  <a:pt x="7144937" y="2510905"/>
                </a:cubicBezTo>
                <a:cubicBezTo>
                  <a:pt x="7164992" y="2494952"/>
                  <a:pt x="7177412" y="2483216"/>
                  <a:pt x="7182198" y="2475695"/>
                </a:cubicBezTo>
                <a:cubicBezTo>
                  <a:pt x="7186984" y="2468175"/>
                  <a:pt x="7189377" y="2457578"/>
                  <a:pt x="7189377" y="2443904"/>
                </a:cubicBezTo>
                <a:cubicBezTo>
                  <a:pt x="7189377" y="2411087"/>
                  <a:pt x="7173880" y="2388298"/>
                  <a:pt x="7142886" y="2375536"/>
                </a:cubicBezTo>
                <a:cubicBezTo>
                  <a:pt x="7108247" y="2361863"/>
                  <a:pt x="7055147" y="2355026"/>
                  <a:pt x="6983589" y="2355026"/>
                </a:cubicBezTo>
                <a:close/>
                <a:moveTo>
                  <a:pt x="5792141" y="2355026"/>
                </a:moveTo>
                <a:cubicBezTo>
                  <a:pt x="5728331" y="2355026"/>
                  <a:pt x="5683664" y="2356849"/>
                  <a:pt x="5658141" y="2360495"/>
                </a:cubicBezTo>
                <a:cubicBezTo>
                  <a:pt x="5582936" y="2371890"/>
                  <a:pt x="5545333" y="2399465"/>
                  <a:pt x="5545333" y="2443221"/>
                </a:cubicBezTo>
                <a:cubicBezTo>
                  <a:pt x="5545333" y="2456894"/>
                  <a:pt x="5549321" y="2468517"/>
                  <a:pt x="5557298" y="2478088"/>
                </a:cubicBezTo>
                <a:cubicBezTo>
                  <a:pt x="5565274" y="2487660"/>
                  <a:pt x="5579518" y="2497459"/>
                  <a:pt x="5600027" y="2507486"/>
                </a:cubicBezTo>
                <a:cubicBezTo>
                  <a:pt x="5617803" y="2516146"/>
                  <a:pt x="5630565" y="2525262"/>
                  <a:pt x="5638314" y="2534833"/>
                </a:cubicBezTo>
                <a:cubicBezTo>
                  <a:pt x="5646062" y="2544405"/>
                  <a:pt x="5652443" y="2558991"/>
                  <a:pt x="5657456" y="2578589"/>
                </a:cubicBezTo>
                <a:cubicBezTo>
                  <a:pt x="5671130" y="2632372"/>
                  <a:pt x="5677967" y="2718059"/>
                  <a:pt x="5677967" y="2835652"/>
                </a:cubicBezTo>
                <a:cubicBezTo>
                  <a:pt x="5677967" y="2945953"/>
                  <a:pt x="5674093" y="3030501"/>
                  <a:pt x="5666344" y="3089297"/>
                </a:cubicBezTo>
                <a:cubicBezTo>
                  <a:pt x="5661786" y="3121658"/>
                  <a:pt x="5648796" y="3144220"/>
                  <a:pt x="5627375" y="3156982"/>
                </a:cubicBezTo>
                <a:cubicBezTo>
                  <a:pt x="5605041" y="3170199"/>
                  <a:pt x="5590684" y="3180683"/>
                  <a:pt x="5584303" y="3188431"/>
                </a:cubicBezTo>
                <a:cubicBezTo>
                  <a:pt x="5577922" y="3196179"/>
                  <a:pt x="5574732" y="3207802"/>
                  <a:pt x="5574732" y="3223299"/>
                </a:cubicBezTo>
                <a:cubicBezTo>
                  <a:pt x="5574732" y="3252925"/>
                  <a:pt x="5591709" y="3275828"/>
                  <a:pt x="5625666" y="3292008"/>
                </a:cubicBezTo>
                <a:cubicBezTo>
                  <a:pt x="5659621" y="3308189"/>
                  <a:pt x="5707366" y="3316279"/>
                  <a:pt x="5768897" y="3316279"/>
                </a:cubicBezTo>
                <a:cubicBezTo>
                  <a:pt x="5905177" y="3316279"/>
                  <a:pt x="5973317" y="3284602"/>
                  <a:pt x="5973317" y="3221248"/>
                </a:cubicBezTo>
                <a:cubicBezTo>
                  <a:pt x="5973317" y="3197091"/>
                  <a:pt x="5958048" y="3177492"/>
                  <a:pt x="5927510" y="3162451"/>
                </a:cubicBezTo>
                <a:cubicBezTo>
                  <a:pt x="5905632" y="3151512"/>
                  <a:pt x="5891161" y="3134421"/>
                  <a:pt x="5884096" y="3111175"/>
                </a:cubicBezTo>
                <a:cubicBezTo>
                  <a:pt x="5877031" y="3087930"/>
                  <a:pt x="5873499" y="3044631"/>
                  <a:pt x="5873499" y="2981276"/>
                </a:cubicBezTo>
                <a:cubicBezTo>
                  <a:pt x="5873499" y="2904248"/>
                  <a:pt x="5887401" y="2865734"/>
                  <a:pt x="5915203" y="2865734"/>
                </a:cubicBezTo>
                <a:cubicBezTo>
                  <a:pt x="5933892" y="2865734"/>
                  <a:pt x="5957364" y="2878496"/>
                  <a:pt x="5985622" y="2904021"/>
                </a:cubicBezTo>
                <a:lnTo>
                  <a:pt x="6391044" y="3267054"/>
                </a:lnTo>
                <a:cubicBezTo>
                  <a:pt x="6414746" y="3288476"/>
                  <a:pt x="6431724" y="3302149"/>
                  <a:pt x="6441979" y="3308075"/>
                </a:cubicBezTo>
                <a:cubicBezTo>
                  <a:pt x="6452233" y="3314000"/>
                  <a:pt x="6464426" y="3316963"/>
                  <a:pt x="6478555" y="3316963"/>
                </a:cubicBezTo>
                <a:cubicBezTo>
                  <a:pt x="6510917" y="3316963"/>
                  <a:pt x="6533250" y="3294857"/>
                  <a:pt x="6545556" y="3250646"/>
                </a:cubicBezTo>
                <a:cubicBezTo>
                  <a:pt x="6555583" y="3215094"/>
                  <a:pt x="6560369" y="3157209"/>
                  <a:pt x="6559913" y="3076992"/>
                </a:cubicBezTo>
                <a:cubicBezTo>
                  <a:pt x="6559457" y="3017739"/>
                  <a:pt x="6559229" y="2971021"/>
                  <a:pt x="6559229" y="2936837"/>
                </a:cubicBezTo>
                <a:lnTo>
                  <a:pt x="6559229" y="2713958"/>
                </a:lnTo>
                <a:cubicBezTo>
                  <a:pt x="6559685" y="2630093"/>
                  <a:pt x="6566066" y="2573119"/>
                  <a:pt x="6578372" y="2543038"/>
                </a:cubicBezTo>
                <a:cubicBezTo>
                  <a:pt x="6582019" y="2533922"/>
                  <a:pt x="6586348" y="2527085"/>
                  <a:pt x="6591362" y="2522527"/>
                </a:cubicBezTo>
                <a:cubicBezTo>
                  <a:pt x="6596376" y="2517969"/>
                  <a:pt x="6605719" y="2512728"/>
                  <a:pt x="6619393" y="2506803"/>
                </a:cubicBezTo>
                <a:cubicBezTo>
                  <a:pt x="6653577" y="2491762"/>
                  <a:pt x="6670669" y="2469428"/>
                  <a:pt x="6670669" y="2439802"/>
                </a:cubicBezTo>
                <a:cubicBezTo>
                  <a:pt x="6670669" y="2404251"/>
                  <a:pt x="6649703" y="2380094"/>
                  <a:pt x="6607770" y="2367332"/>
                </a:cubicBezTo>
                <a:cubicBezTo>
                  <a:pt x="6581335" y="2359128"/>
                  <a:pt x="6533705" y="2355026"/>
                  <a:pt x="6464881" y="2355026"/>
                </a:cubicBezTo>
                <a:cubicBezTo>
                  <a:pt x="6411555" y="2355026"/>
                  <a:pt x="6374181" y="2357305"/>
                  <a:pt x="6352759" y="2361863"/>
                </a:cubicBezTo>
                <a:cubicBezTo>
                  <a:pt x="6300343" y="2372802"/>
                  <a:pt x="6274135" y="2397414"/>
                  <a:pt x="6274135" y="2435700"/>
                </a:cubicBezTo>
                <a:cubicBezTo>
                  <a:pt x="6274135" y="2451197"/>
                  <a:pt x="6277782" y="2463845"/>
                  <a:pt x="6285074" y="2473644"/>
                </a:cubicBezTo>
                <a:cubicBezTo>
                  <a:pt x="6292367" y="2483444"/>
                  <a:pt x="6304900" y="2492673"/>
                  <a:pt x="6322676" y="2501333"/>
                </a:cubicBezTo>
                <a:cubicBezTo>
                  <a:pt x="6344554" y="2511816"/>
                  <a:pt x="6358912" y="2527541"/>
                  <a:pt x="6365749" y="2548507"/>
                </a:cubicBezTo>
                <a:cubicBezTo>
                  <a:pt x="6372585" y="2569473"/>
                  <a:pt x="6376004" y="2608671"/>
                  <a:pt x="6376004" y="2666100"/>
                </a:cubicBezTo>
                <a:cubicBezTo>
                  <a:pt x="6376004" y="2716692"/>
                  <a:pt x="6364153" y="2741988"/>
                  <a:pt x="6340452" y="2741988"/>
                </a:cubicBezTo>
                <a:cubicBezTo>
                  <a:pt x="6326323" y="2741988"/>
                  <a:pt x="6303305" y="2728087"/>
                  <a:pt x="6271400" y="2700284"/>
                </a:cubicBezTo>
                <a:lnTo>
                  <a:pt x="5930928" y="2402200"/>
                </a:lnTo>
                <a:cubicBezTo>
                  <a:pt x="5908139" y="2382145"/>
                  <a:pt x="5888426" y="2369269"/>
                  <a:pt x="5871790" y="2363572"/>
                </a:cubicBezTo>
                <a:cubicBezTo>
                  <a:pt x="5855153" y="2357874"/>
                  <a:pt x="5828605" y="2355026"/>
                  <a:pt x="5792141" y="2355026"/>
                </a:cubicBezTo>
                <a:close/>
                <a:moveTo>
                  <a:pt x="3562887" y="2354342"/>
                </a:moveTo>
                <a:cubicBezTo>
                  <a:pt x="3508193" y="2354342"/>
                  <a:pt x="3454866" y="2359584"/>
                  <a:pt x="3402906" y="2370067"/>
                </a:cubicBezTo>
                <a:cubicBezTo>
                  <a:pt x="3313572" y="2387843"/>
                  <a:pt x="3268905" y="2419748"/>
                  <a:pt x="3268905" y="2465782"/>
                </a:cubicBezTo>
                <a:cubicBezTo>
                  <a:pt x="3268905" y="2484925"/>
                  <a:pt x="3278932" y="2499282"/>
                  <a:pt x="3298987" y="2508854"/>
                </a:cubicBezTo>
                <a:cubicBezTo>
                  <a:pt x="3329069" y="2523895"/>
                  <a:pt x="3347642" y="2537682"/>
                  <a:pt x="3354707" y="2550216"/>
                </a:cubicBezTo>
                <a:cubicBezTo>
                  <a:pt x="3361771" y="2562751"/>
                  <a:pt x="3365076" y="2588616"/>
                  <a:pt x="3364620" y="2627814"/>
                </a:cubicBezTo>
                <a:cubicBezTo>
                  <a:pt x="3364620" y="2643311"/>
                  <a:pt x="3365532" y="2705753"/>
                  <a:pt x="3367355" y="2815142"/>
                </a:cubicBezTo>
                <a:cubicBezTo>
                  <a:pt x="3367811" y="2837020"/>
                  <a:pt x="3368038" y="2855935"/>
                  <a:pt x="3368038" y="2871887"/>
                </a:cubicBezTo>
                <a:cubicBezTo>
                  <a:pt x="3368038" y="2958031"/>
                  <a:pt x="3364620" y="3027766"/>
                  <a:pt x="3357783" y="3081093"/>
                </a:cubicBezTo>
                <a:cubicBezTo>
                  <a:pt x="3355048" y="3104794"/>
                  <a:pt x="3351060" y="3121658"/>
                  <a:pt x="3345819" y="3131686"/>
                </a:cubicBezTo>
                <a:cubicBezTo>
                  <a:pt x="3340577" y="3141713"/>
                  <a:pt x="3331576" y="3149917"/>
                  <a:pt x="3318813" y="3156298"/>
                </a:cubicBezTo>
                <a:cubicBezTo>
                  <a:pt x="3294201" y="3169060"/>
                  <a:pt x="3278249" y="3179543"/>
                  <a:pt x="3270956" y="3187747"/>
                </a:cubicBezTo>
                <a:cubicBezTo>
                  <a:pt x="3263663" y="3195952"/>
                  <a:pt x="3260017" y="3207574"/>
                  <a:pt x="3260017" y="3222615"/>
                </a:cubicBezTo>
                <a:cubicBezTo>
                  <a:pt x="3260017" y="3237656"/>
                  <a:pt x="3265828" y="3251443"/>
                  <a:pt x="3277451" y="3263977"/>
                </a:cubicBezTo>
                <a:cubicBezTo>
                  <a:pt x="3289073" y="3276512"/>
                  <a:pt x="3305140" y="3286197"/>
                  <a:pt x="3325650" y="3293034"/>
                </a:cubicBezTo>
                <a:cubicBezTo>
                  <a:pt x="3373052" y="3308531"/>
                  <a:pt x="3434127" y="3316279"/>
                  <a:pt x="3508876" y="3316279"/>
                </a:cubicBezTo>
                <a:cubicBezTo>
                  <a:pt x="3590918" y="3316279"/>
                  <a:pt x="3654044" y="3307847"/>
                  <a:pt x="3698255" y="3290983"/>
                </a:cubicBezTo>
                <a:cubicBezTo>
                  <a:pt x="3742467" y="3274119"/>
                  <a:pt x="3764572" y="3249734"/>
                  <a:pt x="3764572" y="3217829"/>
                </a:cubicBezTo>
                <a:cubicBezTo>
                  <a:pt x="3764572" y="3192761"/>
                  <a:pt x="3755001" y="3174757"/>
                  <a:pt x="3735858" y="3163818"/>
                </a:cubicBezTo>
                <a:cubicBezTo>
                  <a:pt x="3717171" y="3152424"/>
                  <a:pt x="3705320" y="3143081"/>
                  <a:pt x="3700306" y="3135788"/>
                </a:cubicBezTo>
                <a:cubicBezTo>
                  <a:pt x="3685721" y="3112998"/>
                  <a:pt x="3678428" y="3075624"/>
                  <a:pt x="3678428" y="3023664"/>
                </a:cubicBezTo>
                <a:cubicBezTo>
                  <a:pt x="3678428" y="2991759"/>
                  <a:pt x="3679796" y="2964868"/>
                  <a:pt x="3682531" y="2942990"/>
                </a:cubicBezTo>
                <a:cubicBezTo>
                  <a:pt x="3684810" y="2925214"/>
                  <a:pt x="3690507" y="2914503"/>
                  <a:pt x="3699623" y="2910857"/>
                </a:cubicBezTo>
                <a:cubicBezTo>
                  <a:pt x="3721956" y="2901741"/>
                  <a:pt x="3773916" y="2897183"/>
                  <a:pt x="3855502" y="2897183"/>
                </a:cubicBezTo>
                <a:cubicBezTo>
                  <a:pt x="3891053" y="2897183"/>
                  <a:pt x="3913045" y="2900602"/>
                  <a:pt x="3921477" y="2907439"/>
                </a:cubicBezTo>
                <a:cubicBezTo>
                  <a:pt x="3929909" y="2914276"/>
                  <a:pt x="3934124" y="2932051"/>
                  <a:pt x="3934124" y="2960766"/>
                </a:cubicBezTo>
                <a:cubicBezTo>
                  <a:pt x="3934124" y="3016372"/>
                  <a:pt x="3930023" y="3063318"/>
                  <a:pt x="3921819" y="3101604"/>
                </a:cubicBezTo>
                <a:cubicBezTo>
                  <a:pt x="3917261" y="3121202"/>
                  <a:pt x="3912589" y="3134648"/>
                  <a:pt x="3907803" y="3141941"/>
                </a:cubicBezTo>
                <a:cubicBezTo>
                  <a:pt x="3903017" y="3149233"/>
                  <a:pt x="3894016" y="3156526"/>
                  <a:pt x="3880798" y="3163818"/>
                </a:cubicBezTo>
                <a:cubicBezTo>
                  <a:pt x="3853907" y="3178403"/>
                  <a:pt x="3840461" y="3198686"/>
                  <a:pt x="3840461" y="3224666"/>
                </a:cubicBezTo>
                <a:cubicBezTo>
                  <a:pt x="3840461" y="3255203"/>
                  <a:pt x="3858009" y="3277765"/>
                  <a:pt x="3893104" y="3292351"/>
                </a:cubicBezTo>
                <a:cubicBezTo>
                  <a:pt x="3931846" y="3308303"/>
                  <a:pt x="3991782" y="3316279"/>
                  <a:pt x="4072912" y="3316279"/>
                </a:cubicBezTo>
                <a:cubicBezTo>
                  <a:pt x="4165436" y="3316279"/>
                  <a:pt x="4232323" y="3308417"/>
                  <a:pt x="4273571" y="3292692"/>
                </a:cubicBezTo>
                <a:cubicBezTo>
                  <a:pt x="4314820" y="3276967"/>
                  <a:pt x="4335444" y="3251785"/>
                  <a:pt x="4335444" y="3217145"/>
                </a:cubicBezTo>
                <a:cubicBezTo>
                  <a:pt x="4335444" y="3197547"/>
                  <a:pt x="4326784" y="3182962"/>
                  <a:pt x="4309465" y="3173390"/>
                </a:cubicBezTo>
                <a:cubicBezTo>
                  <a:pt x="4285308" y="3159716"/>
                  <a:pt x="4270951" y="3150601"/>
                  <a:pt x="4266393" y="3146043"/>
                </a:cubicBezTo>
                <a:cubicBezTo>
                  <a:pt x="4261835" y="3141485"/>
                  <a:pt x="4257733" y="3132369"/>
                  <a:pt x="4254086" y="3118696"/>
                </a:cubicBezTo>
                <a:cubicBezTo>
                  <a:pt x="4247250" y="3093627"/>
                  <a:pt x="4243832" y="3034831"/>
                  <a:pt x="4243832" y="2942306"/>
                </a:cubicBezTo>
                <a:cubicBezTo>
                  <a:pt x="4243832" y="2889435"/>
                  <a:pt x="4245199" y="2818105"/>
                  <a:pt x="4247934" y="2728315"/>
                </a:cubicBezTo>
                <a:cubicBezTo>
                  <a:pt x="4250668" y="2638525"/>
                  <a:pt x="4252947" y="2587933"/>
                  <a:pt x="4254770" y="2576538"/>
                </a:cubicBezTo>
                <a:cubicBezTo>
                  <a:pt x="4257961" y="2556028"/>
                  <a:pt x="4262291" y="2542012"/>
                  <a:pt x="4267760" y="2534492"/>
                </a:cubicBezTo>
                <a:cubicBezTo>
                  <a:pt x="4273229" y="2526971"/>
                  <a:pt x="4284852" y="2519109"/>
                  <a:pt x="4302628" y="2510905"/>
                </a:cubicBezTo>
                <a:cubicBezTo>
                  <a:pt x="4330886" y="2497231"/>
                  <a:pt x="4345016" y="2476721"/>
                  <a:pt x="4345016" y="2449374"/>
                </a:cubicBezTo>
                <a:cubicBezTo>
                  <a:pt x="4345016" y="2417013"/>
                  <a:pt x="4325075" y="2393198"/>
                  <a:pt x="4285194" y="2377929"/>
                </a:cubicBezTo>
                <a:cubicBezTo>
                  <a:pt x="4245313" y="2362660"/>
                  <a:pt x="4183440" y="2355026"/>
                  <a:pt x="4099575" y="2355026"/>
                </a:cubicBezTo>
                <a:cubicBezTo>
                  <a:pt x="4028017" y="2355026"/>
                  <a:pt x="3968536" y="2360723"/>
                  <a:pt x="3921135" y="2372118"/>
                </a:cubicBezTo>
                <a:cubicBezTo>
                  <a:pt x="3898346" y="2377587"/>
                  <a:pt x="3879886" y="2387957"/>
                  <a:pt x="3865757" y="2403225"/>
                </a:cubicBezTo>
                <a:cubicBezTo>
                  <a:pt x="3851627" y="2418494"/>
                  <a:pt x="3844563" y="2435472"/>
                  <a:pt x="3844563" y="2454159"/>
                </a:cubicBezTo>
                <a:cubicBezTo>
                  <a:pt x="3844563" y="2467377"/>
                  <a:pt x="3847753" y="2477974"/>
                  <a:pt x="3854134" y="2485951"/>
                </a:cubicBezTo>
                <a:cubicBezTo>
                  <a:pt x="3860515" y="2493927"/>
                  <a:pt x="3873733" y="2503612"/>
                  <a:pt x="3893788" y="2515007"/>
                </a:cubicBezTo>
                <a:cubicBezTo>
                  <a:pt x="3909740" y="2523667"/>
                  <a:pt x="3920451" y="2539847"/>
                  <a:pt x="3925921" y="2563548"/>
                </a:cubicBezTo>
                <a:cubicBezTo>
                  <a:pt x="3931390" y="2587249"/>
                  <a:pt x="3934124" y="2629181"/>
                  <a:pt x="3934124" y="2689345"/>
                </a:cubicBezTo>
                <a:cubicBezTo>
                  <a:pt x="3934124" y="2709400"/>
                  <a:pt x="3928427" y="2721934"/>
                  <a:pt x="3917033" y="2726947"/>
                </a:cubicBezTo>
                <a:cubicBezTo>
                  <a:pt x="3905638" y="2731961"/>
                  <a:pt x="3876467" y="2734468"/>
                  <a:pt x="3829522" y="2734468"/>
                </a:cubicBezTo>
                <a:cubicBezTo>
                  <a:pt x="3778018" y="2734468"/>
                  <a:pt x="3745315" y="2734012"/>
                  <a:pt x="3731414" y="2733101"/>
                </a:cubicBezTo>
                <a:cubicBezTo>
                  <a:pt x="3717513" y="2732189"/>
                  <a:pt x="3707143" y="2729454"/>
                  <a:pt x="3700306" y="2724896"/>
                </a:cubicBezTo>
                <a:cubicBezTo>
                  <a:pt x="3688456" y="2717604"/>
                  <a:pt x="3682531" y="2698005"/>
                  <a:pt x="3682531" y="2666100"/>
                </a:cubicBezTo>
                <a:cubicBezTo>
                  <a:pt x="3682531" y="2611861"/>
                  <a:pt x="3684924" y="2575854"/>
                  <a:pt x="3689710" y="2558079"/>
                </a:cubicBezTo>
                <a:cubicBezTo>
                  <a:pt x="3694495" y="2540303"/>
                  <a:pt x="3705776" y="2525946"/>
                  <a:pt x="3723552" y="2515007"/>
                </a:cubicBezTo>
                <a:cubicBezTo>
                  <a:pt x="3744062" y="2502701"/>
                  <a:pt x="3757963" y="2491534"/>
                  <a:pt x="3765256" y="2481507"/>
                </a:cubicBezTo>
                <a:cubicBezTo>
                  <a:pt x="3772549" y="2471479"/>
                  <a:pt x="3776195" y="2458489"/>
                  <a:pt x="3776195" y="2442537"/>
                </a:cubicBezTo>
                <a:cubicBezTo>
                  <a:pt x="3776195" y="2383741"/>
                  <a:pt x="3705092" y="2354342"/>
                  <a:pt x="3562887" y="2354342"/>
                </a:cubicBezTo>
                <a:close/>
                <a:moveTo>
                  <a:pt x="3082265" y="2348189"/>
                </a:moveTo>
                <a:cubicBezTo>
                  <a:pt x="3071782" y="2348189"/>
                  <a:pt x="3059704" y="2350012"/>
                  <a:pt x="3046030" y="2353658"/>
                </a:cubicBezTo>
                <a:cubicBezTo>
                  <a:pt x="3014125" y="2362774"/>
                  <a:pt x="2978801" y="2368016"/>
                  <a:pt x="2940060" y="2369383"/>
                </a:cubicBezTo>
                <a:lnTo>
                  <a:pt x="2579761" y="2369383"/>
                </a:lnTo>
                <a:cubicBezTo>
                  <a:pt x="2559251" y="2369383"/>
                  <a:pt x="2541133" y="2368472"/>
                  <a:pt x="2525408" y="2366648"/>
                </a:cubicBezTo>
                <a:cubicBezTo>
                  <a:pt x="2509684" y="2364825"/>
                  <a:pt x="2489515" y="2361407"/>
                  <a:pt x="2464903" y="2356393"/>
                </a:cubicBezTo>
                <a:cubicBezTo>
                  <a:pt x="2453052" y="2353658"/>
                  <a:pt x="2442569" y="2352291"/>
                  <a:pt x="2433454" y="2352291"/>
                </a:cubicBezTo>
                <a:cubicBezTo>
                  <a:pt x="2399725" y="2352291"/>
                  <a:pt x="2365541" y="2375536"/>
                  <a:pt x="2330902" y="2422027"/>
                </a:cubicBezTo>
                <a:cubicBezTo>
                  <a:pt x="2309479" y="2450741"/>
                  <a:pt x="2292387" y="2482076"/>
                  <a:pt x="2279625" y="2516032"/>
                </a:cubicBezTo>
                <a:cubicBezTo>
                  <a:pt x="2266864" y="2549989"/>
                  <a:pt x="2260483" y="2581096"/>
                  <a:pt x="2260483" y="2609355"/>
                </a:cubicBezTo>
                <a:cubicBezTo>
                  <a:pt x="2260483" y="2638069"/>
                  <a:pt x="2268459" y="2661656"/>
                  <a:pt x="2284411" y="2680116"/>
                </a:cubicBezTo>
                <a:cubicBezTo>
                  <a:pt x="2300364" y="2698575"/>
                  <a:pt x="2320646" y="2707804"/>
                  <a:pt x="2345259" y="2707804"/>
                </a:cubicBezTo>
                <a:cubicBezTo>
                  <a:pt x="2367137" y="2707804"/>
                  <a:pt x="2389698" y="2698917"/>
                  <a:pt x="2412943" y="2681141"/>
                </a:cubicBezTo>
                <a:cubicBezTo>
                  <a:pt x="2432542" y="2666100"/>
                  <a:pt x="2457610" y="2635334"/>
                  <a:pt x="2488148" y="2588844"/>
                </a:cubicBezTo>
                <a:cubicBezTo>
                  <a:pt x="2505012" y="2563321"/>
                  <a:pt x="2522332" y="2550558"/>
                  <a:pt x="2540107" y="2550558"/>
                </a:cubicBezTo>
                <a:cubicBezTo>
                  <a:pt x="2554693" y="2550558"/>
                  <a:pt x="2565176" y="2559218"/>
                  <a:pt x="2571557" y="2576538"/>
                </a:cubicBezTo>
                <a:cubicBezTo>
                  <a:pt x="2577937" y="2593858"/>
                  <a:pt x="2581128" y="2623028"/>
                  <a:pt x="2581128" y="2664049"/>
                </a:cubicBezTo>
                <a:cubicBezTo>
                  <a:pt x="2581128" y="2722389"/>
                  <a:pt x="2579533" y="2791327"/>
                  <a:pt x="2576342" y="2870862"/>
                </a:cubicBezTo>
                <a:cubicBezTo>
                  <a:pt x="2573152" y="2950397"/>
                  <a:pt x="2569734" y="3007939"/>
                  <a:pt x="2566087" y="3043491"/>
                </a:cubicBezTo>
                <a:cubicBezTo>
                  <a:pt x="2561985" y="3083600"/>
                  <a:pt x="2556630" y="3110719"/>
                  <a:pt x="2550021" y="3124849"/>
                </a:cubicBezTo>
                <a:cubicBezTo>
                  <a:pt x="2543412" y="3138978"/>
                  <a:pt x="2531447" y="3148550"/>
                  <a:pt x="2514127" y="3153563"/>
                </a:cubicBezTo>
                <a:cubicBezTo>
                  <a:pt x="2485869" y="3162223"/>
                  <a:pt x="2469688" y="3167693"/>
                  <a:pt x="2465586" y="3169972"/>
                </a:cubicBezTo>
                <a:cubicBezTo>
                  <a:pt x="2449178" y="3180455"/>
                  <a:pt x="2440974" y="3195040"/>
                  <a:pt x="2440974" y="3213727"/>
                </a:cubicBezTo>
                <a:cubicBezTo>
                  <a:pt x="2440974" y="3248367"/>
                  <a:pt x="2463991" y="3273435"/>
                  <a:pt x="2510026" y="3288932"/>
                </a:cubicBezTo>
                <a:cubicBezTo>
                  <a:pt x="2564720" y="3307619"/>
                  <a:pt x="2648584" y="3316963"/>
                  <a:pt x="2761620" y="3316963"/>
                </a:cubicBezTo>
                <a:cubicBezTo>
                  <a:pt x="2853688" y="3316963"/>
                  <a:pt x="2921942" y="3308986"/>
                  <a:pt x="2966381" y="3293034"/>
                </a:cubicBezTo>
                <a:cubicBezTo>
                  <a:pt x="3010821" y="3277082"/>
                  <a:pt x="3033040" y="3252697"/>
                  <a:pt x="3033040" y="3219881"/>
                </a:cubicBezTo>
                <a:cubicBezTo>
                  <a:pt x="3033040" y="3203472"/>
                  <a:pt x="3028596" y="3190596"/>
                  <a:pt x="3019708" y="3181252"/>
                </a:cubicBezTo>
                <a:cubicBezTo>
                  <a:pt x="3010821" y="3171909"/>
                  <a:pt x="2994070" y="3161995"/>
                  <a:pt x="2969458" y="3151512"/>
                </a:cubicBezTo>
                <a:cubicBezTo>
                  <a:pt x="2946669" y="3141941"/>
                  <a:pt x="2931172" y="3128267"/>
                  <a:pt x="2922968" y="3110492"/>
                </a:cubicBezTo>
                <a:cubicBezTo>
                  <a:pt x="2914763" y="3092716"/>
                  <a:pt x="2910661" y="3064229"/>
                  <a:pt x="2910661" y="3025032"/>
                </a:cubicBezTo>
                <a:lnTo>
                  <a:pt x="2910661" y="2642171"/>
                </a:lnTo>
                <a:cubicBezTo>
                  <a:pt x="2910661" y="2609811"/>
                  <a:pt x="2914308" y="2586565"/>
                  <a:pt x="2921600" y="2572436"/>
                </a:cubicBezTo>
                <a:cubicBezTo>
                  <a:pt x="2928893" y="2558307"/>
                  <a:pt x="2940971" y="2551242"/>
                  <a:pt x="2957835" y="2551242"/>
                </a:cubicBezTo>
                <a:cubicBezTo>
                  <a:pt x="2970141" y="2551242"/>
                  <a:pt x="2980625" y="2555572"/>
                  <a:pt x="2989285" y="2564232"/>
                </a:cubicBezTo>
                <a:cubicBezTo>
                  <a:pt x="2997945" y="2572892"/>
                  <a:pt x="3009795" y="2591351"/>
                  <a:pt x="3024836" y="2619610"/>
                </a:cubicBezTo>
                <a:cubicBezTo>
                  <a:pt x="3042156" y="2650603"/>
                  <a:pt x="3059704" y="2672823"/>
                  <a:pt x="3077479" y="2686268"/>
                </a:cubicBezTo>
                <a:cubicBezTo>
                  <a:pt x="3095255" y="2699714"/>
                  <a:pt x="3116221" y="2706437"/>
                  <a:pt x="3140378" y="2706437"/>
                </a:cubicBezTo>
                <a:cubicBezTo>
                  <a:pt x="3165902" y="2706437"/>
                  <a:pt x="3187779" y="2699601"/>
                  <a:pt x="3206011" y="2685927"/>
                </a:cubicBezTo>
                <a:cubicBezTo>
                  <a:pt x="3230167" y="2667695"/>
                  <a:pt x="3242246" y="2638753"/>
                  <a:pt x="3242246" y="2599099"/>
                </a:cubicBezTo>
                <a:cubicBezTo>
                  <a:pt x="3242246" y="2541215"/>
                  <a:pt x="3224812" y="2484925"/>
                  <a:pt x="3189945" y="2430231"/>
                </a:cubicBezTo>
                <a:cubicBezTo>
                  <a:pt x="3155077" y="2375536"/>
                  <a:pt x="3119184" y="2348189"/>
                  <a:pt x="3082265" y="2348189"/>
                </a:cubicBezTo>
                <a:close/>
                <a:moveTo>
                  <a:pt x="4889889" y="2346138"/>
                </a:moveTo>
                <a:cubicBezTo>
                  <a:pt x="4841121" y="2346138"/>
                  <a:pt x="4801012" y="2362091"/>
                  <a:pt x="4769562" y="2393996"/>
                </a:cubicBezTo>
                <a:cubicBezTo>
                  <a:pt x="4754521" y="2408581"/>
                  <a:pt x="4744835" y="2423508"/>
                  <a:pt x="4740505" y="2438777"/>
                </a:cubicBezTo>
                <a:cubicBezTo>
                  <a:pt x="4736175" y="2454046"/>
                  <a:pt x="4733782" y="2481279"/>
                  <a:pt x="4733327" y="2520476"/>
                </a:cubicBezTo>
                <a:cubicBezTo>
                  <a:pt x="4732872" y="2557395"/>
                  <a:pt x="4726605" y="2595111"/>
                  <a:pt x="4714525" y="2633626"/>
                </a:cubicBezTo>
                <a:cubicBezTo>
                  <a:pt x="4702448" y="2672139"/>
                  <a:pt x="4678632" y="2730138"/>
                  <a:pt x="4643081" y="2807622"/>
                </a:cubicBezTo>
                <a:lnTo>
                  <a:pt x="4546682" y="3018878"/>
                </a:lnTo>
                <a:cubicBezTo>
                  <a:pt x="4518424" y="3080865"/>
                  <a:pt x="4496660" y="3121317"/>
                  <a:pt x="4481391" y="3140232"/>
                </a:cubicBezTo>
                <a:cubicBezTo>
                  <a:pt x="4466123" y="3159147"/>
                  <a:pt x="4443675" y="3173846"/>
                  <a:pt x="4414049" y="3184329"/>
                </a:cubicBezTo>
                <a:cubicBezTo>
                  <a:pt x="4395818" y="3190710"/>
                  <a:pt x="4383170" y="3197774"/>
                  <a:pt x="4376105" y="3205523"/>
                </a:cubicBezTo>
                <a:cubicBezTo>
                  <a:pt x="4369040" y="3213272"/>
                  <a:pt x="4365508" y="3224211"/>
                  <a:pt x="4365508" y="3238339"/>
                </a:cubicBezTo>
                <a:cubicBezTo>
                  <a:pt x="4365508" y="3270701"/>
                  <a:pt x="4381460" y="3291666"/>
                  <a:pt x="4413365" y="3301238"/>
                </a:cubicBezTo>
                <a:cubicBezTo>
                  <a:pt x="4448005" y="3311265"/>
                  <a:pt x="4502243" y="3316279"/>
                  <a:pt x="4576081" y="3316279"/>
                </a:cubicBezTo>
                <a:cubicBezTo>
                  <a:pt x="4705980" y="3316279"/>
                  <a:pt x="4770929" y="3289160"/>
                  <a:pt x="4770929" y="3234921"/>
                </a:cubicBezTo>
                <a:cubicBezTo>
                  <a:pt x="4770929" y="3210309"/>
                  <a:pt x="4757028" y="3193901"/>
                  <a:pt x="4729225" y="3185696"/>
                </a:cubicBezTo>
                <a:cubicBezTo>
                  <a:pt x="4707803" y="3178859"/>
                  <a:pt x="4695156" y="3173960"/>
                  <a:pt x="4691280" y="3170997"/>
                </a:cubicBezTo>
                <a:cubicBezTo>
                  <a:pt x="4687406" y="3168034"/>
                  <a:pt x="4685469" y="3161539"/>
                  <a:pt x="4685469" y="3151512"/>
                </a:cubicBezTo>
                <a:cubicBezTo>
                  <a:pt x="4685469" y="3140573"/>
                  <a:pt x="4688204" y="3129179"/>
                  <a:pt x="4693674" y="3117328"/>
                </a:cubicBezTo>
                <a:cubicBezTo>
                  <a:pt x="4699143" y="3105478"/>
                  <a:pt x="4705524" y="3097274"/>
                  <a:pt x="4712817" y="3092716"/>
                </a:cubicBezTo>
                <a:cubicBezTo>
                  <a:pt x="4724667" y="3085423"/>
                  <a:pt x="4760902" y="3081777"/>
                  <a:pt x="4821521" y="3081777"/>
                </a:cubicBezTo>
                <a:cubicBezTo>
                  <a:pt x="4893536" y="3081777"/>
                  <a:pt x="4949369" y="3084512"/>
                  <a:pt x="4989023" y="3089981"/>
                </a:cubicBezTo>
                <a:cubicBezTo>
                  <a:pt x="5025942" y="3095451"/>
                  <a:pt x="5044401" y="3113454"/>
                  <a:pt x="5044401" y="3143992"/>
                </a:cubicBezTo>
                <a:cubicBezTo>
                  <a:pt x="5044401" y="3161312"/>
                  <a:pt x="5033690" y="3173618"/>
                  <a:pt x="5012268" y="3180911"/>
                </a:cubicBezTo>
                <a:cubicBezTo>
                  <a:pt x="4993125" y="3187292"/>
                  <a:pt x="4980022" y="3194242"/>
                  <a:pt x="4972957" y="3201763"/>
                </a:cubicBezTo>
                <a:cubicBezTo>
                  <a:pt x="4965892" y="3209283"/>
                  <a:pt x="4962360" y="3219881"/>
                  <a:pt x="4962360" y="3233554"/>
                </a:cubicBezTo>
                <a:cubicBezTo>
                  <a:pt x="4962360" y="3251329"/>
                  <a:pt x="4969082" y="3266484"/>
                  <a:pt x="4982528" y="3279018"/>
                </a:cubicBezTo>
                <a:cubicBezTo>
                  <a:pt x="4995973" y="3291553"/>
                  <a:pt x="5014091" y="3299871"/>
                  <a:pt x="5036881" y="3303973"/>
                </a:cubicBezTo>
                <a:cubicBezTo>
                  <a:pt x="5086561" y="3312633"/>
                  <a:pt x="5162905" y="3316963"/>
                  <a:pt x="5265913" y="3316963"/>
                </a:cubicBezTo>
                <a:cubicBezTo>
                  <a:pt x="5357070" y="3316963"/>
                  <a:pt x="5422704" y="3309670"/>
                  <a:pt x="5462812" y="3295085"/>
                </a:cubicBezTo>
                <a:cubicBezTo>
                  <a:pt x="5502921" y="3280500"/>
                  <a:pt x="5522976" y="3256571"/>
                  <a:pt x="5522976" y="3223299"/>
                </a:cubicBezTo>
                <a:cubicBezTo>
                  <a:pt x="5522976" y="3195040"/>
                  <a:pt x="5506569" y="3178403"/>
                  <a:pt x="5473751" y="3173390"/>
                </a:cubicBezTo>
                <a:cubicBezTo>
                  <a:pt x="5456887" y="3170655"/>
                  <a:pt x="5444354" y="3165300"/>
                  <a:pt x="5436150" y="3157324"/>
                </a:cubicBezTo>
                <a:cubicBezTo>
                  <a:pt x="5427945" y="3149347"/>
                  <a:pt x="5417690" y="3132597"/>
                  <a:pt x="5405383" y="3107073"/>
                </a:cubicBezTo>
                <a:lnTo>
                  <a:pt x="5276168" y="2830183"/>
                </a:lnTo>
                <a:cubicBezTo>
                  <a:pt x="5164957" y="2592718"/>
                  <a:pt x="5080180" y="2449374"/>
                  <a:pt x="5021839" y="2400149"/>
                </a:cubicBezTo>
                <a:cubicBezTo>
                  <a:pt x="4979908" y="2364142"/>
                  <a:pt x="4935924" y="2346138"/>
                  <a:pt x="4889889" y="2346138"/>
                </a:cubicBezTo>
                <a:close/>
                <a:moveTo>
                  <a:pt x="0" y="0"/>
                </a:moveTo>
                <a:lnTo>
                  <a:pt x="13078046" y="0"/>
                </a:lnTo>
                <a:lnTo>
                  <a:pt x="13078046" y="7442790"/>
                </a:lnTo>
                <a:lnTo>
                  <a:pt x="0" y="74427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649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1349</Words>
  <Application>Microsoft Office PowerPoint</Application>
  <PresentationFormat>Widescreen</PresentationFormat>
  <Paragraphs>224</Paragraphs>
  <Slides>26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Adobe Gothic Std B</vt:lpstr>
      <vt:lpstr>Adobe Hebrew</vt:lpstr>
      <vt:lpstr>Algerian</vt:lpstr>
      <vt:lpstr>Arial</vt:lpstr>
      <vt:lpstr>Bauhaus 93</vt:lpstr>
      <vt:lpstr>Berlin Sans FB Demi</vt:lpstr>
      <vt:lpstr>Bradley Hand ITC</vt:lpstr>
      <vt:lpstr>Calibri</vt:lpstr>
      <vt:lpstr>Calibri Light</vt:lpstr>
      <vt:lpstr>Cooper Black</vt:lpstr>
      <vt:lpstr>Elephant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Khaja Ahmed</dc:creator>
  <cp:lastModifiedBy>Mohammed Khaja Ahmed</cp:lastModifiedBy>
  <cp:revision>10</cp:revision>
  <dcterms:created xsi:type="dcterms:W3CDTF">2025-11-20T17:14:24Z</dcterms:created>
  <dcterms:modified xsi:type="dcterms:W3CDTF">2025-11-27T11:58:06Z</dcterms:modified>
</cp:coreProperties>
</file>